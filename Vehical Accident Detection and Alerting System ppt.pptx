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notesMasterIdLst>
    <p:notesMasterId r:id="rId27"/>
  </p:notesMasterIdLst>
  <p:handoutMasterIdLst>
    <p:handoutMasterId r:id="rId28"/>
  </p:handoutMasterIdLst>
  <p:sldIdLst>
    <p:sldId id="258" r:id="rId2"/>
    <p:sldId id="293" r:id="rId3"/>
    <p:sldId id="261" r:id="rId4"/>
    <p:sldId id="264" r:id="rId5"/>
    <p:sldId id="266" r:id="rId6"/>
    <p:sldId id="268" r:id="rId7"/>
    <p:sldId id="270" r:id="rId8"/>
    <p:sldId id="274"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1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961C0E-723F-452E-BEB5-EFEE23C7957E}" v="112" dt="2025-11-05T08:06:08.6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257" autoAdjust="0"/>
    <p:restoredTop sz="93969" autoAdjust="0"/>
  </p:normalViewPr>
  <p:slideViewPr>
    <p:cSldViewPr>
      <p:cViewPr varScale="1">
        <p:scale>
          <a:sx n="69" d="100"/>
          <a:sy n="69" d="100"/>
        </p:scale>
        <p:origin x="106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2C2BA19-84B0-49DF-889C-7B2DFD66AD1D}" type="datetimeFigureOut">
              <a:rPr lang="en-US" smtClean="0"/>
              <a:pPr/>
              <a:t>11/5/2025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873E98F-EAAA-4B3D-8362-D69438CAB4F4}"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DD85E0-4874-4C2B-87DE-24CEC057AB5E}" type="datetimeFigureOut">
              <a:rPr lang="en-US" smtClean="0"/>
              <a:pPr/>
              <a:t>11/5/2025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D7661E-346A-4F2D-957E-0AA9B22F7D28}" type="slidenum">
              <a:rPr lang="en-US" smtClean="0"/>
              <a:pPr/>
              <a:t>‹#›</a:t>
            </a:fld>
            <a:endParaRPr lang="en-US"/>
          </a:p>
        </p:txBody>
      </p:sp>
    </p:spTree>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0D7661E-346A-4F2D-957E-0AA9B22F7D28}" type="slidenum">
              <a:rPr lang="en-US" smtClean="0"/>
              <a:pPr/>
              <a:t>1</a:t>
            </a:fld>
            <a:endParaRPr lang="en-US"/>
          </a:p>
        </p:txBody>
      </p:sp>
      <p:sp>
        <p:nvSpPr>
          <p:cNvPr id="5" name="Date Placeholder 4"/>
          <p:cNvSpPr>
            <a:spLocks noGrp="1"/>
          </p:cNvSpPr>
          <p:nvPr>
            <p:ph type="dt" idx="11"/>
          </p:nvPr>
        </p:nvSpPr>
        <p:spPr/>
        <p:txBody>
          <a:bodyPr/>
          <a:lstStyle/>
          <a:p>
            <a:fld id="{16DD85E0-4874-4C2B-87DE-24CEC057AB5E}" type="datetimeFigureOut">
              <a:rPr lang="en-US" smtClean="0"/>
              <a:pPr/>
              <a:t>11/5/2025</a:t>
            </a:fld>
            <a:endParaRPr lang="en-US"/>
          </a:p>
        </p:txBody>
      </p:sp>
      <p:sp>
        <p:nvSpPr>
          <p:cNvPr id="6" name="Header Placeholder 5"/>
          <p:cNvSpPr>
            <a:spLocks noGrp="1"/>
          </p:cNvSpPr>
          <p:nvPr>
            <p:ph type="hdr" sz="quarter" idx="12"/>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4BD99-918E-6A7D-713F-3CA423E21FB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528A9EBC-9012-EB7E-C6D1-C25286AC1A5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0D2A031-E145-B774-F3B7-99F4EB85E3E2}"/>
              </a:ext>
            </a:extLst>
          </p:cNvPr>
          <p:cNvSpPr>
            <a:spLocks noGrp="1"/>
          </p:cNvSpPr>
          <p:nvPr>
            <p:ph type="dt" sz="half" idx="10"/>
          </p:nvPr>
        </p:nvSpPr>
        <p:spPr/>
        <p:txBody>
          <a:bodyPr/>
          <a:lstStyle/>
          <a:p>
            <a:fld id="{B8425624-29D8-4999-BDC8-0BD0497A0179}" type="datetime1">
              <a:rPr lang="en-US" smtClean="0"/>
              <a:pPr/>
              <a:t>11/5/2025</a:t>
            </a:fld>
            <a:endParaRPr lang="en-US"/>
          </a:p>
        </p:txBody>
      </p:sp>
      <p:sp>
        <p:nvSpPr>
          <p:cNvPr id="5" name="Footer Placeholder 4">
            <a:extLst>
              <a:ext uri="{FF2B5EF4-FFF2-40B4-BE49-F238E27FC236}">
                <a16:creationId xmlns:a16="http://schemas.microsoft.com/office/drawing/2014/main" id="{FA5A0BFF-E7CF-A21B-4C56-992846F0938F}"/>
              </a:ext>
            </a:extLst>
          </p:cNvPr>
          <p:cNvSpPr>
            <a:spLocks noGrp="1"/>
          </p:cNvSpPr>
          <p:nvPr>
            <p:ph type="ftr" sz="quarter" idx="11"/>
          </p:nvPr>
        </p:nvSpPr>
        <p:spPr/>
        <p:txBody>
          <a:bodyPr/>
          <a:lstStyle/>
          <a:p>
            <a:r>
              <a:rPr lang="en-US"/>
              <a:t>United Institute of Technology</a:t>
            </a:r>
          </a:p>
        </p:txBody>
      </p:sp>
      <p:sp>
        <p:nvSpPr>
          <p:cNvPr id="6" name="Slide Number Placeholder 5">
            <a:extLst>
              <a:ext uri="{FF2B5EF4-FFF2-40B4-BE49-F238E27FC236}">
                <a16:creationId xmlns:a16="http://schemas.microsoft.com/office/drawing/2014/main" id="{04693DF1-A769-4654-B341-D9547BCC41E6}"/>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4245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9999-53B7-9041-C8DF-1F3BFB909F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8B5C94-A489-D0D9-ED3F-65F4982820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75AFB-B659-9C8A-F0C9-1608F984F5CA}"/>
              </a:ext>
            </a:extLst>
          </p:cNvPr>
          <p:cNvSpPr>
            <a:spLocks noGrp="1"/>
          </p:cNvSpPr>
          <p:nvPr>
            <p:ph type="dt" sz="half" idx="10"/>
          </p:nvPr>
        </p:nvSpPr>
        <p:spPr/>
        <p:txBody>
          <a:bodyPr/>
          <a:lstStyle/>
          <a:p>
            <a:fld id="{285DDAC1-5763-4009-9CF4-822C66BC7A81}" type="datetime1">
              <a:rPr lang="en-US" smtClean="0"/>
              <a:pPr/>
              <a:t>11/5/2025</a:t>
            </a:fld>
            <a:endParaRPr lang="en-US"/>
          </a:p>
        </p:txBody>
      </p:sp>
      <p:sp>
        <p:nvSpPr>
          <p:cNvPr id="5" name="Footer Placeholder 4">
            <a:extLst>
              <a:ext uri="{FF2B5EF4-FFF2-40B4-BE49-F238E27FC236}">
                <a16:creationId xmlns:a16="http://schemas.microsoft.com/office/drawing/2014/main" id="{753188E6-DCC5-4EE5-981C-57F2514F6479}"/>
              </a:ext>
            </a:extLst>
          </p:cNvPr>
          <p:cNvSpPr>
            <a:spLocks noGrp="1"/>
          </p:cNvSpPr>
          <p:nvPr>
            <p:ph type="ftr" sz="quarter" idx="11"/>
          </p:nvPr>
        </p:nvSpPr>
        <p:spPr/>
        <p:txBody>
          <a:bodyPr/>
          <a:lstStyle/>
          <a:p>
            <a:r>
              <a:rPr lang="en-US"/>
              <a:t>United Institute of Technology</a:t>
            </a:r>
          </a:p>
        </p:txBody>
      </p:sp>
      <p:sp>
        <p:nvSpPr>
          <p:cNvPr id="6" name="Slide Number Placeholder 5">
            <a:extLst>
              <a:ext uri="{FF2B5EF4-FFF2-40B4-BE49-F238E27FC236}">
                <a16:creationId xmlns:a16="http://schemas.microsoft.com/office/drawing/2014/main" id="{13AEA4D5-8049-425C-E5F7-54D8DE5DCAB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31236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F16ED-1F1F-E809-D3AB-535E38CE7D5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4420DFE-799A-AD8E-99A6-FE96B78CBCEC}"/>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5087B2-07A6-3EF6-0646-F95D6692C588}"/>
              </a:ext>
            </a:extLst>
          </p:cNvPr>
          <p:cNvSpPr>
            <a:spLocks noGrp="1"/>
          </p:cNvSpPr>
          <p:nvPr>
            <p:ph type="dt" sz="half" idx="10"/>
          </p:nvPr>
        </p:nvSpPr>
        <p:spPr/>
        <p:txBody>
          <a:bodyPr/>
          <a:lstStyle/>
          <a:p>
            <a:fld id="{5E97E444-F1C0-49B1-A9CD-448308ADA088}" type="datetime1">
              <a:rPr lang="en-US" smtClean="0"/>
              <a:pPr/>
              <a:t>11/5/2025</a:t>
            </a:fld>
            <a:endParaRPr lang="en-US"/>
          </a:p>
        </p:txBody>
      </p:sp>
      <p:sp>
        <p:nvSpPr>
          <p:cNvPr id="5" name="Footer Placeholder 4">
            <a:extLst>
              <a:ext uri="{FF2B5EF4-FFF2-40B4-BE49-F238E27FC236}">
                <a16:creationId xmlns:a16="http://schemas.microsoft.com/office/drawing/2014/main" id="{1DAD03F0-6087-EE4C-D7E7-A82C65DB030A}"/>
              </a:ext>
            </a:extLst>
          </p:cNvPr>
          <p:cNvSpPr>
            <a:spLocks noGrp="1"/>
          </p:cNvSpPr>
          <p:nvPr>
            <p:ph type="ftr" sz="quarter" idx="11"/>
          </p:nvPr>
        </p:nvSpPr>
        <p:spPr/>
        <p:txBody>
          <a:bodyPr/>
          <a:lstStyle/>
          <a:p>
            <a:r>
              <a:rPr lang="en-US"/>
              <a:t>United Institute of Technology</a:t>
            </a:r>
          </a:p>
        </p:txBody>
      </p:sp>
      <p:sp>
        <p:nvSpPr>
          <p:cNvPr id="6" name="Slide Number Placeholder 5">
            <a:extLst>
              <a:ext uri="{FF2B5EF4-FFF2-40B4-BE49-F238E27FC236}">
                <a16:creationId xmlns:a16="http://schemas.microsoft.com/office/drawing/2014/main" id="{9B53248D-FA55-0B96-C4C7-BFAF6CA58F3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4850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5A02F-D831-9273-A556-2A285F7773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BDA72D-1EEA-3F1E-5529-216B850FB0B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D193A1-4BDF-8641-FBFA-34FDE55341B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026330-4686-5456-BF8B-FBDB91401F3C}"/>
              </a:ext>
            </a:extLst>
          </p:cNvPr>
          <p:cNvSpPr>
            <a:spLocks noGrp="1"/>
          </p:cNvSpPr>
          <p:nvPr>
            <p:ph type="dt" sz="half" idx="10"/>
          </p:nvPr>
        </p:nvSpPr>
        <p:spPr/>
        <p:txBody>
          <a:bodyPr/>
          <a:lstStyle/>
          <a:p>
            <a:fld id="{7D6C0D72-6DD9-40B0-BBD7-10723061C8D5}" type="datetime1">
              <a:rPr lang="en-US" smtClean="0"/>
              <a:pPr/>
              <a:t>11/5/2025</a:t>
            </a:fld>
            <a:endParaRPr lang="en-US"/>
          </a:p>
        </p:txBody>
      </p:sp>
      <p:sp>
        <p:nvSpPr>
          <p:cNvPr id="6" name="Footer Placeholder 5">
            <a:extLst>
              <a:ext uri="{FF2B5EF4-FFF2-40B4-BE49-F238E27FC236}">
                <a16:creationId xmlns:a16="http://schemas.microsoft.com/office/drawing/2014/main" id="{C1E4A2F4-DD5A-0ADF-04D2-22637CD38858}"/>
              </a:ext>
            </a:extLst>
          </p:cNvPr>
          <p:cNvSpPr>
            <a:spLocks noGrp="1"/>
          </p:cNvSpPr>
          <p:nvPr>
            <p:ph type="ftr" sz="quarter" idx="11"/>
          </p:nvPr>
        </p:nvSpPr>
        <p:spPr/>
        <p:txBody>
          <a:bodyPr/>
          <a:lstStyle/>
          <a:p>
            <a:r>
              <a:rPr lang="en-US"/>
              <a:t>United Institute of Technology</a:t>
            </a:r>
          </a:p>
        </p:txBody>
      </p:sp>
      <p:sp>
        <p:nvSpPr>
          <p:cNvPr id="7" name="Slide Number Placeholder 6">
            <a:extLst>
              <a:ext uri="{FF2B5EF4-FFF2-40B4-BE49-F238E27FC236}">
                <a16:creationId xmlns:a16="http://schemas.microsoft.com/office/drawing/2014/main" id="{A0620AC4-D7D9-F640-CB69-B5495A06E8B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06179445"/>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7657-ADD7-D178-AC57-3D7B390664C5}"/>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3E538F-C030-17D8-F87A-FA608FC6BE4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C5E2199-03F4-B6BE-7956-B8ED96D51B00}"/>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47628D-9158-E6F9-5AAC-A185DB7ED6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E205F72-F04F-742A-9139-B981B1D830C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82CD2A-C995-7D6B-1528-2D54B93D73BE}"/>
              </a:ext>
            </a:extLst>
          </p:cNvPr>
          <p:cNvSpPr>
            <a:spLocks noGrp="1"/>
          </p:cNvSpPr>
          <p:nvPr>
            <p:ph type="dt" sz="half" idx="10"/>
          </p:nvPr>
        </p:nvSpPr>
        <p:spPr/>
        <p:txBody>
          <a:bodyPr/>
          <a:lstStyle/>
          <a:p>
            <a:fld id="{7D6C0D72-6DD9-40B0-BBD7-10723061C8D5}" type="datetime1">
              <a:rPr lang="en-US" smtClean="0"/>
              <a:pPr/>
              <a:t>11/5/2025</a:t>
            </a:fld>
            <a:endParaRPr lang="en-US"/>
          </a:p>
        </p:txBody>
      </p:sp>
      <p:sp>
        <p:nvSpPr>
          <p:cNvPr id="8" name="Footer Placeholder 7">
            <a:extLst>
              <a:ext uri="{FF2B5EF4-FFF2-40B4-BE49-F238E27FC236}">
                <a16:creationId xmlns:a16="http://schemas.microsoft.com/office/drawing/2014/main" id="{354CD7EE-6866-9D1E-E22D-0B3BFAE3B0A0}"/>
              </a:ext>
            </a:extLst>
          </p:cNvPr>
          <p:cNvSpPr>
            <a:spLocks noGrp="1"/>
          </p:cNvSpPr>
          <p:nvPr>
            <p:ph type="ftr" sz="quarter" idx="11"/>
          </p:nvPr>
        </p:nvSpPr>
        <p:spPr/>
        <p:txBody>
          <a:bodyPr/>
          <a:lstStyle/>
          <a:p>
            <a:r>
              <a:rPr lang="en-US"/>
              <a:t>United Institute of Technology</a:t>
            </a:r>
          </a:p>
        </p:txBody>
      </p:sp>
      <p:sp>
        <p:nvSpPr>
          <p:cNvPr id="9" name="Slide Number Placeholder 8">
            <a:extLst>
              <a:ext uri="{FF2B5EF4-FFF2-40B4-BE49-F238E27FC236}">
                <a16:creationId xmlns:a16="http://schemas.microsoft.com/office/drawing/2014/main" id="{5D424668-B7E1-50A4-0430-D494A54BE34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3746316"/>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D843E-B74C-934D-2D61-5CA04E74CD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DF8164-7753-DDD9-9C64-7F6F5205D7A1}"/>
              </a:ext>
            </a:extLst>
          </p:cNvPr>
          <p:cNvSpPr>
            <a:spLocks noGrp="1"/>
          </p:cNvSpPr>
          <p:nvPr>
            <p:ph type="dt" sz="half" idx="10"/>
          </p:nvPr>
        </p:nvSpPr>
        <p:spPr/>
        <p:txBody>
          <a:bodyPr/>
          <a:lstStyle/>
          <a:p>
            <a:fld id="{C34F30F8-5ECA-4E03-905B-4639EC423CF1}" type="datetime1">
              <a:rPr lang="en-US" smtClean="0"/>
              <a:pPr/>
              <a:t>11/5/2025</a:t>
            </a:fld>
            <a:endParaRPr lang="en-US"/>
          </a:p>
        </p:txBody>
      </p:sp>
      <p:sp>
        <p:nvSpPr>
          <p:cNvPr id="4" name="Footer Placeholder 3">
            <a:extLst>
              <a:ext uri="{FF2B5EF4-FFF2-40B4-BE49-F238E27FC236}">
                <a16:creationId xmlns:a16="http://schemas.microsoft.com/office/drawing/2014/main" id="{64E1C4D6-173D-1E11-9F16-6FB01C977E38}"/>
              </a:ext>
            </a:extLst>
          </p:cNvPr>
          <p:cNvSpPr>
            <a:spLocks noGrp="1"/>
          </p:cNvSpPr>
          <p:nvPr>
            <p:ph type="ftr" sz="quarter" idx="11"/>
          </p:nvPr>
        </p:nvSpPr>
        <p:spPr/>
        <p:txBody>
          <a:bodyPr/>
          <a:lstStyle/>
          <a:p>
            <a:r>
              <a:rPr lang="en-US"/>
              <a:t>United Institute of Technology</a:t>
            </a:r>
          </a:p>
        </p:txBody>
      </p:sp>
      <p:sp>
        <p:nvSpPr>
          <p:cNvPr id="5" name="Slide Number Placeholder 4">
            <a:extLst>
              <a:ext uri="{FF2B5EF4-FFF2-40B4-BE49-F238E27FC236}">
                <a16:creationId xmlns:a16="http://schemas.microsoft.com/office/drawing/2014/main" id="{3BEFDE47-7153-DBA0-D5F2-5090CF8E309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44101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4B7072-F0AB-1448-7D65-3916672B4C7B}"/>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A87048A2-DE69-A47A-7BDE-1F2D5D81209C}"/>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0D2CF564-2126-81B5-655D-62A5F813C98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3505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8A9FD-C37B-9D4F-5D7B-4A4C81D69F2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BB228FF-4F78-121E-F68B-3E0DD2A3D05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27C876-B75F-CFCE-DA8E-73149ED961F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E567477-AE6A-E33D-74BA-62D13BD2AFC7}"/>
              </a:ext>
            </a:extLst>
          </p:cNvPr>
          <p:cNvSpPr>
            <a:spLocks noGrp="1"/>
          </p:cNvSpPr>
          <p:nvPr>
            <p:ph type="dt" sz="half" idx="10"/>
          </p:nvPr>
        </p:nvSpPr>
        <p:spPr/>
        <p:txBody>
          <a:bodyPr/>
          <a:lstStyle/>
          <a:p>
            <a:fld id="{BEC03502-DE3E-48F4-97D1-0AE650829B61}" type="datetime1">
              <a:rPr lang="en-US" smtClean="0"/>
              <a:pPr/>
              <a:t>11/5/2025</a:t>
            </a:fld>
            <a:endParaRPr lang="en-US"/>
          </a:p>
        </p:txBody>
      </p:sp>
      <p:sp>
        <p:nvSpPr>
          <p:cNvPr id="6" name="Footer Placeholder 5">
            <a:extLst>
              <a:ext uri="{FF2B5EF4-FFF2-40B4-BE49-F238E27FC236}">
                <a16:creationId xmlns:a16="http://schemas.microsoft.com/office/drawing/2014/main" id="{743449AC-E4CC-FBE1-720C-9494DB256B3B}"/>
              </a:ext>
            </a:extLst>
          </p:cNvPr>
          <p:cNvSpPr>
            <a:spLocks noGrp="1"/>
          </p:cNvSpPr>
          <p:nvPr>
            <p:ph type="ftr" sz="quarter" idx="11"/>
          </p:nvPr>
        </p:nvSpPr>
        <p:spPr/>
        <p:txBody>
          <a:bodyPr/>
          <a:lstStyle/>
          <a:p>
            <a:r>
              <a:rPr lang="en-US"/>
              <a:t>United Institute of Technology</a:t>
            </a:r>
          </a:p>
        </p:txBody>
      </p:sp>
      <p:sp>
        <p:nvSpPr>
          <p:cNvPr id="7" name="Slide Number Placeholder 6">
            <a:extLst>
              <a:ext uri="{FF2B5EF4-FFF2-40B4-BE49-F238E27FC236}">
                <a16:creationId xmlns:a16="http://schemas.microsoft.com/office/drawing/2014/main" id="{7E96CDD7-C866-2617-E858-7F5A03EAD0F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43019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3DEF9-32CC-C0B4-E1D6-32E7C3346CE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CA2DBCD-1916-BC1B-E8A9-561DD8B48D1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C7FDC09-13C9-9722-7015-4C53C32E5D6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13FBC3-6695-5CD5-598C-10F3618130D9}"/>
              </a:ext>
            </a:extLst>
          </p:cNvPr>
          <p:cNvSpPr>
            <a:spLocks noGrp="1"/>
          </p:cNvSpPr>
          <p:nvPr>
            <p:ph type="dt" sz="half" idx="10"/>
          </p:nvPr>
        </p:nvSpPr>
        <p:spPr/>
        <p:txBody>
          <a:bodyPr/>
          <a:lstStyle/>
          <a:p>
            <a:fld id="{7D6C0D72-6DD9-40B0-BBD7-10723061C8D5}" type="datetime1">
              <a:rPr lang="en-US" smtClean="0"/>
              <a:pPr/>
              <a:t>11/5/2025</a:t>
            </a:fld>
            <a:endParaRPr lang="en-US"/>
          </a:p>
        </p:txBody>
      </p:sp>
      <p:sp>
        <p:nvSpPr>
          <p:cNvPr id="6" name="Footer Placeholder 5">
            <a:extLst>
              <a:ext uri="{FF2B5EF4-FFF2-40B4-BE49-F238E27FC236}">
                <a16:creationId xmlns:a16="http://schemas.microsoft.com/office/drawing/2014/main" id="{A4DD36DB-EF0A-A63E-6483-6347BE06BBC6}"/>
              </a:ext>
            </a:extLst>
          </p:cNvPr>
          <p:cNvSpPr>
            <a:spLocks noGrp="1"/>
          </p:cNvSpPr>
          <p:nvPr>
            <p:ph type="ftr" sz="quarter" idx="11"/>
          </p:nvPr>
        </p:nvSpPr>
        <p:spPr/>
        <p:txBody>
          <a:bodyPr/>
          <a:lstStyle/>
          <a:p>
            <a:r>
              <a:rPr lang="en-US"/>
              <a:t>United Institute of Technology</a:t>
            </a:r>
          </a:p>
        </p:txBody>
      </p:sp>
      <p:sp>
        <p:nvSpPr>
          <p:cNvPr id="7" name="Slide Number Placeholder 6">
            <a:extLst>
              <a:ext uri="{FF2B5EF4-FFF2-40B4-BE49-F238E27FC236}">
                <a16:creationId xmlns:a16="http://schemas.microsoft.com/office/drawing/2014/main" id="{A9FD1F51-8420-8B30-9DDD-C70D151DE1B5}"/>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9555201"/>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CD079-1AAD-8519-1154-9F5B1BD5ED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BB44A3-1E96-A754-8594-0E70D8A062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CD19F-4270-2226-3C0F-AA149985CB90}"/>
              </a:ext>
            </a:extLst>
          </p:cNvPr>
          <p:cNvSpPr>
            <a:spLocks noGrp="1"/>
          </p:cNvSpPr>
          <p:nvPr>
            <p:ph type="dt" sz="half" idx="10"/>
          </p:nvPr>
        </p:nvSpPr>
        <p:spPr/>
        <p:txBody>
          <a:bodyPr/>
          <a:lstStyle/>
          <a:p>
            <a:fld id="{A485F9E0-D373-4E3B-8FDC-9886E3324547}" type="datetime1">
              <a:rPr lang="en-US" smtClean="0"/>
              <a:pPr/>
              <a:t>11/5/2025</a:t>
            </a:fld>
            <a:endParaRPr lang="en-US"/>
          </a:p>
        </p:txBody>
      </p:sp>
      <p:sp>
        <p:nvSpPr>
          <p:cNvPr id="5" name="Footer Placeholder 4">
            <a:extLst>
              <a:ext uri="{FF2B5EF4-FFF2-40B4-BE49-F238E27FC236}">
                <a16:creationId xmlns:a16="http://schemas.microsoft.com/office/drawing/2014/main" id="{F89F2536-C88E-638D-163E-D2F2103DB0F0}"/>
              </a:ext>
            </a:extLst>
          </p:cNvPr>
          <p:cNvSpPr>
            <a:spLocks noGrp="1"/>
          </p:cNvSpPr>
          <p:nvPr>
            <p:ph type="ftr" sz="quarter" idx="11"/>
          </p:nvPr>
        </p:nvSpPr>
        <p:spPr/>
        <p:txBody>
          <a:bodyPr/>
          <a:lstStyle/>
          <a:p>
            <a:r>
              <a:rPr lang="en-US"/>
              <a:t>United Institute of Technology</a:t>
            </a:r>
          </a:p>
        </p:txBody>
      </p:sp>
      <p:sp>
        <p:nvSpPr>
          <p:cNvPr id="6" name="Slide Number Placeholder 5">
            <a:extLst>
              <a:ext uri="{FF2B5EF4-FFF2-40B4-BE49-F238E27FC236}">
                <a16:creationId xmlns:a16="http://schemas.microsoft.com/office/drawing/2014/main" id="{F11C0D0E-CA83-0C20-2CFA-40357CB8BCD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546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D74D09-38B6-1C3C-8315-93A0133D1C6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917748-6A16-F3E4-8DCD-19E3CCA3A889}"/>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CACC07-F464-3010-B5B0-007A76B22E49}"/>
              </a:ext>
            </a:extLst>
          </p:cNvPr>
          <p:cNvSpPr>
            <a:spLocks noGrp="1"/>
          </p:cNvSpPr>
          <p:nvPr>
            <p:ph type="dt" sz="half" idx="10"/>
          </p:nvPr>
        </p:nvSpPr>
        <p:spPr/>
        <p:txBody>
          <a:bodyPr/>
          <a:lstStyle/>
          <a:p>
            <a:fld id="{FA57F732-E0FA-448A-93C9-842F368296A0}" type="datetime1">
              <a:rPr lang="en-US" smtClean="0"/>
              <a:pPr/>
              <a:t>11/5/2025</a:t>
            </a:fld>
            <a:endParaRPr lang="en-US"/>
          </a:p>
        </p:txBody>
      </p:sp>
      <p:sp>
        <p:nvSpPr>
          <p:cNvPr id="5" name="Footer Placeholder 4">
            <a:extLst>
              <a:ext uri="{FF2B5EF4-FFF2-40B4-BE49-F238E27FC236}">
                <a16:creationId xmlns:a16="http://schemas.microsoft.com/office/drawing/2014/main" id="{F67958C8-4FAD-3FC6-4330-1588864B30AF}"/>
              </a:ext>
            </a:extLst>
          </p:cNvPr>
          <p:cNvSpPr>
            <a:spLocks noGrp="1"/>
          </p:cNvSpPr>
          <p:nvPr>
            <p:ph type="ftr" sz="quarter" idx="11"/>
          </p:nvPr>
        </p:nvSpPr>
        <p:spPr/>
        <p:txBody>
          <a:bodyPr/>
          <a:lstStyle/>
          <a:p>
            <a:r>
              <a:rPr lang="en-US"/>
              <a:t>United Institute of Technology</a:t>
            </a:r>
          </a:p>
        </p:txBody>
      </p:sp>
      <p:sp>
        <p:nvSpPr>
          <p:cNvPr id="6" name="Slide Number Placeholder 5">
            <a:extLst>
              <a:ext uri="{FF2B5EF4-FFF2-40B4-BE49-F238E27FC236}">
                <a16:creationId xmlns:a16="http://schemas.microsoft.com/office/drawing/2014/main" id="{5242AE15-91A1-39E9-FB9D-3A61298BDFD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2094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BC45A3-6D17-2DF4-D604-0022F2C9C19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BE2B25-EAD9-7DD4-8A74-B6C41CAA36F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67B3BD-74E0-FD84-311A-337EFF946F7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7D6C0D72-6DD9-40B0-BBD7-10723061C8D5}" type="datetime1">
              <a:rPr lang="en-US" smtClean="0"/>
              <a:pPr/>
              <a:t>11/5/2025</a:t>
            </a:fld>
            <a:endParaRPr lang="en-US"/>
          </a:p>
        </p:txBody>
      </p:sp>
      <p:sp>
        <p:nvSpPr>
          <p:cNvPr id="5" name="Footer Placeholder 4">
            <a:extLst>
              <a:ext uri="{FF2B5EF4-FFF2-40B4-BE49-F238E27FC236}">
                <a16:creationId xmlns:a16="http://schemas.microsoft.com/office/drawing/2014/main" id="{3B1AB6B0-507E-62FD-7CAB-EDE668738AB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t>United Institute of Technology</a:t>
            </a:r>
          </a:p>
        </p:txBody>
      </p:sp>
      <p:sp>
        <p:nvSpPr>
          <p:cNvPr id="6" name="Slide Number Placeholder 5">
            <a:extLst>
              <a:ext uri="{FF2B5EF4-FFF2-40B4-BE49-F238E27FC236}">
                <a16:creationId xmlns:a16="http://schemas.microsoft.com/office/drawing/2014/main" id="{6920E7B2-C131-0CD1-2394-7A8EFC211E5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068480005"/>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1.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 Id="rId5" Type="http://schemas.openxmlformats.org/officeDocument/2006/relationships/image" Target="../media/image1.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1.jpeg"/><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6.xml"/><Relationship Id="rId6" Type="http://schemas.openxmlformats.org/officeDocument/2006/relationships/image" Target="../media/image1.jpeg"/><Relationship Id="rId5" Type="http://schemas.openxmlformats.org/officeDocument/2006/relationships/image" Target="../media/image2.jpe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4.jpg"/><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ited logo.jpg"/>
          <p:cNvPicPr>
            <a:picLocks noChangeAspect="1"/>
          </p:cNvPicPr>
          <p:nvPr/>
        </p:nvPicPr>
        <p:blipFill>
          <a:blip r:embed="rId3"/>
          <a:stretch>
            <a:fillRect/>
          </a:stretch>
        </p:blipFill>
        <p:spPr>
          <a:xfrm>
            <a:off x="7273880" y="136524"/>
            <a:ext cx="1506648" cy="1302117"/>
          </a:xfrm>
          <a:prstGeom prst="rect">
            <a:avLst/>
          </a:prstGeom>
        </p:spPr>
      </p:pic>
      <p:pic>
        <p:nvPicPr>
          <p:cNvPr id="3" name="Picture 2" descr="aktu logo.jpg"/>
          <p:cNvPicPr>
            <a:picLocks noChangeAspect="1"/>
          </p:cNvPicPr>
          <p:nvPr/>
        </p:nvPicPr>
        <p:blipFill>
          <a:blip r:embed="rId4"/>
          <a:stretch>
            <a:fillRect/>
          </a:stretch>
        </p:blipFill>
        <p:spPr>
          <a:xfrm>
            <a:off x="363472" y="211447"/>
            <a:ext cx="1356502" cy="1104533"/>
          </a:xfrm>
          <a:prstGeom prst="rect">
            <a:avLst/>
          </a:prstGeom>
        </p:spPr>
      </p:pic>
      <p:sp>
        <p:nvSpPr>
          <p:cNvPr id="4" name="TextBox 3"/>
          <p:cNvSpPr txBox="1"/>
          <p:nvPr/>
        </p:nvSpPr>
        <p:spPr>
          <a:xfrm>
            <a:off x="1600200" y="1905000"/>
            <a:ext cx="5562600" cy="830997"/>
          </a:xfrm>
          <a:prstGeom prst="rect">
            <a:avLst/>
          </a:prstGeom>
          <a:noFill/>
        </p:spPr>
        <p:txBody>
          <a:bodyPr wrap="square" rtlCol="0">
            <a:spAutoFit/>
          </a:bodyPr>
          <a:lstStyle/>
          <a:p>
            <a:pPr algn="ctr"/>
            <a:r>
              <a:rPr lang="en-US" sz="2000" b="1" dirty="0">
                <a:latin typeface="Arial" pitchFamily="34" charset="0"/>
                <a:cs typeface="Arial" pitchFamily="34" charset="0"/>
              </a:rPr>
              <a:t>“</a:t>
            </a:r>
            <a:r>
              <a:rPr lang="en-US" sz="2400" b="1" i="1" u="sng" dirty="0">
                <a:solidFill>
                  <a:srgbClr val="07014F"/>
                </a:solidFill>
                <a:latin typeface="+mj-lt"/>
                <a:cs typeface="Times New Roman" panose="02020603050405020304" pitchFamily="18" charset="0"/>
              </a:rPr>
              <a:t>Vehicle Accident Detection and Alerting System</a:t>
            </a:r>
            <a:r>
              <a:rPr lang="en-US" sz="2000" b="1" i="1" u="sng" dirty="0">
                <a:solidFill>
                  <a:srgbClr val="07014F"/>
                </a:solidFill>
                <a:latin typeface="+mj-lt"/>
                <a:cs typeface="Arial" pitchFamily="34" charset="0"/>
              </a:rPr>
              <a:t> </a:t>
            </a:r>
            <a:r>
              <a:rPr lang="en-US" sz="2000" b="1" dirty="0">
                <a:latin typeface="+mj-lt"/>
                <a:cs typeface="Arial" pitchFamily="34" charset="0"/>
              </a:rPr>
              <a:t>“</a:t>
            </a:r>
          </a:p>
        </p:txBody>
      </p:sp>
      <p:sp>
        <p:nvSpPr>
          <p:cNvPr id="5" name="TextBox 4"/>
          <p:cNvSpPr txBox="1"/>
          <p:nvPr/>
        </p:nvSpPr>
        <p:spPr>
          <a:xfrm>
            <a:off x="1524000" y="2362200"/>
            <a:ext cx="184731" cy="400110"/>
          </a:xfrm>
          <a:prstGeom prst="rect">
            <a:avLst/>
          </a:prstGeom>
          <a:noFill/>
        </p:spPr>
        <p:txBody>
          <a:bodyPr wrap="none" rtlCol="0">
            <a:spAutoFit/>
          </a:bodyPr>
          <a:lstStyle/>
          <a:p>
            <a:endParaRPr lang="en-US" sz="2000" b="1" dirty="0">
              <a:latin typeface="Arial" pitchFamily="34" charset="0"/>
              <a:cs typeface="Arial" pitchFamily="34" charset="0"/>
            </a:endParaRPr>
          </a:p>
        </p:txBody>
      </p:sp>
      <p:sp>
        <p:nvSpPr>
          <p:cNvPr id="6" name="TextBox 5"/>
          <p:cNvSpPr txBox="1"/>
          <p:nvPr/>
        </p:nvSpPr>
        <p:spPr>
          <a:xfrm>
            <a:off x="1955524" y="1108687"/>
            <a:ext cx="4625158" cy="707886"/>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    Mini Project Presentation </a:t>
            </a:r>
          </a:p>
          <a:p>
            <a:pPr algn="ctr"/>
            <a:r>
              <a:rPr lang="en-IN" sz="2000" b="1" dirty="0">
                <a:latin typeface="Times New Roman" panose="02020603050405020304" pitchFamily="18" charset="0"/>
                <a:cs typeface="Times New Roman" panose="02020603050405020304" pitchFamily="18" charset="0"/>
              </a:rPr>
              <a:t>        on</a:t>
            </a:r>
            <a:endParaRPr lang="en-US" sz="20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627838" y="2735997"/>
            <a:ext cx="3018775" cy="2215991"/>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 </a:t>
            </a:r>
          </a:p>
          <a:p>
            <a:r>
              <a:rPr lang="en-IN" b="1" u="sng" dirty="0">
                <a:latin typeface="Times New Roman" panose="02020603050405020304" pitchFamily="18" charset="0"/>
                <a:cs typeface="Times New Roman" panose="02020603050405020304" pitchFamily="18" charset="0"/>
              </a:rPr>
              <a:t>  Under the Guidance of</a:t>
            </a:r>
            <a:r>
              <a:rPr lang="en-IN" sz="2000" b="1" dirty="0">
                <a:latin typeface="Times New Roman" panose="02020603050405020304" pitchFamily="18" charset="0"/>
                <a:cs typeface="Times New Roman" panose="02020603050405020304" pitchFamily="18" charset="0"/>
              </a:rPr>
              <a:t>:</a:t>
            </a:r>
          </a:p>
          <a:p>
            <a:endParaRPr lang="en-IN" sz="2000" b="1" dirty="0">
              <a:latin typeface="Times New Roman" panose="02020603050405020304" pitchFamily="18" charset="0"/>
              <a:cs typeface="Times New Roman" panose="02020603050405020304" pitchFamily="18" charset="0"/>
            </a:endParaRPr>
          </a:p>
          <a:p>
            <a:pPr algn="ctr"/>
            <a:r>
              <a:rPr lang="en-IN" sz="2000" b="1" dirty="0">
                <a:solidFill>
                  <a:srgbClr val="002060"/>
                </a:solidFill>
                <a:latin typeface="Times New Roman" panose="02020603050405020304" pitchFamily="18" charset="0"/>
                <a:cs typeface="Times New Roman" panose="02020603050405020304" pitchFamily="18" charset="0"/>
              </a:rPr>
              <a:t>Mr. Tilak Saxena</a:t>
            </a:r>
          </a:p>
          <a:p>
            <a:pPr algn="ctr"/>
            <a:r>
              <a:rPr lang="en-IN" sz="2000" b="1" dirty="0">
                <a:latin typeface="Times New Roman" panose="02020603050405020304" pitchFamily="18" charset="0"/>
                <a:cs typeface="Times New Roman" panose="02020603050405020304" pitchFamily="18" charset="0"/>
              </a:rPr>
              <a:t>(Assistant Professor</a:t>
            </a:r>
            <a:r>
              <a:rPr lang="en-IN" sz="2000" b="1" dirty="0">
                <a:latin typeface="Arial" pitchFamily="34" charset="0"/>
                <a:cs typeface="Arial" pitchFamily="34" charset="0"/>
              </a:rPr>
              <a:t>)</a:t>
            </a:r>
            <a:endParaRPr lang="en-US" sz="2000" b="1" dirty="0">
              <a:latin typeface="Arial" pitchFamily="34" charset="0"/>
              <a:cs typeface="Arial" pitchFamily="34" charset="0"/>
            </a:endParaRPr>
          </a:p>
          <a:p>
            <a:endParaRPr lang="en-IN" sz="2000" b="1" dirty="0">
              <a:latin typeface="Arial" pitchFamily="34" charset="0"/>
              <a:cs typeface="Arial" pitchFamily="34" charset="0"/>
            </a:endParaRPr>
          </a:p>
          <a:p>
            <a:endParaRPr lang="en-IN" sz="2000" b="1" dirty="0">
              <a:latin typeface="Arial" pitchFamily="34" charset="0"/>
              <a:cs typeface="Arial" pitchFamily="34" charset="0"/>
            </a:endParaRPr>
          </a:p>
        </p:txBody>
      </p:sp>
      <p:sp>
        <p:nvSpPr>
          <p:cNvPr id="8" name="TextBox 7"/>
          <p:cNvSpPr txBox="1"/>
          <p:nvPr/>
        </p:nvSpPr>
        <p:spPr>
          <a:xfrm>
            <a:off x="5256548" y="2798564"/>
            <a:ext cx="3733799" cy="2831544"/>
          </a:xfrm>
          <a:prstGeom prst="rect">
            <a:avLst/>
          </a:prstGeom>
          <a:noFill/>
        </p:spPr>
        <p:txBody>
          <a:bodyPr wrap="square" rtlCol="0">
            <a:spAutoFit/>
          </a:bodyPr>
          <a:lstStyle/>
          <a:p>
            <a:pPr algn="ctr"/>
            <a:r>
              <a:rPr lang="en-IN" b="1" u="sng" dirty="0">
                <a:latin typeface="Times New Roman" panose="02020603050405020304" pitchFamily="18" charset="0"/>
                <a:cs typeface="Times New Roman" panose="02020603050405020304" pitchFamily="18" charset="0"/>
              </a:rPr>
              <a:t>Presented By</a:t>
            </a:r>
            <a:r>
              <a:rPr lang="en-IN" b="1" dirty="0">
                <a:latin typeface="Times New Roman" panose="02020603050405020304" pitchFamily="18" charset="0"/>
                <a:cs typeface="Times New Roman" panose="02020603050405020304" pitchFamily="18" charset="0"/>
              </a:rPr>
              <a:t>:</a:t>
            </a:r>
          </a:p>
          <a:p>
            <a:pPr algn="ctr"/>
            <a:endParaRPr lang="en-IN" sz="2000" b="1" dirty="0">
              <a:latin typeface="Times New Roman" panose="02020603050405020304" pitchFamily="18" charset="0"/>
              <a:cs typeface="Times New Roman" panose="02020603050405020304" pitchFamily="18" charset="0"/>
            </a:endParaRPr>
          </a:p>
          <a:p>
            <a:pPr algn="ctr"/>
            <a:r>
              <a:rPr lang="en-IN" sz="2000" b="1" dirty="0">
                <a:latin typeface="Times New Roman" panose="02020603050405020304" pitchFamily="18" charset="0"/>
                <a:cs typeface="Times New Roman" panose="02020603050405020304" pitchFamily="18" charset="0"/>
              </a:rPr>
              <a:t> </a:t>
            </a:r>
            <a:r>
              <a:rPr lang="en-IN" sz="2000" b="1" dirty="0">
                <a:solidFill>
                  <a:srgbClr val="002060"/>
                </a:solidFill>
                <a:latin typeface="Times New Roman" panose="02020603050405020304" pitchFamily="18" charset="0"/>
                <a:cs typeface="Times New Roman" panose="02020603050405020304" pitchFamily="18" charset="0"/>
              </a:rPr>
              <a:t>Anand Sagar Tripathi</a:t>
            </a:r>
          </a:p>
          <a:p>
            <a:pPr algn="ctr"/>
            <a:r>
              <a:rPr lang="en-IN" sz="2000" b="1" dirty="0">
                <a:latin typeface="Times New Roman" panose="02020603050405020304" pitchFamily="18" charset="0"/>
                <a:cs typeface="Times New Roman" panose="02020603050405020304" pitchFamily="18" charset="0"/>
              </a:rPr>
              <a:t>      (2402840310002)</a:t>
            </a:r>
          </a:p>
          <a:p>
            <a:pPr algn="ctr"/>
            <a:endParaRPr lang="en-IN" sz="2000" b="1" dirty="0">
              <a:latin typeface="Times New Roman" panose="02020603050405020304" pitchFamily="18" charset="0"/>
              <a:cs typeface="Times New Roman" panose="02020603050405020304" pitchFamily="18" charset="0"/>
            </a:endParaRPr>
          </a:p>
          <a:p>
            <a:pPr algn="ctr"/>
            <a:r>
              <a:rPr lang="en-IN" sz="2000" b="1" dirty="0">
                <a:solidFill>
                  <a:srgbClr val="002060"/>
                </a:solidFill>
                <a:latin typeface="Times New Roman" panose="02020603050405020304" pitchFamily="18" charset="0"/>
                <a:cs typeface="Times New Roman" panose="02020603050405020304" pitchFamily="18" charset="0"/>
              </a:rPr>
              <a:t>Ankit Kushwaha</a:t>
            </a:r>
          </a:p>
          <a:p>
            <a:pPr algn="ctr"/>
            <a:r>
              <a:rPr lang="en-IN" sz="2000" b="1" dirty="0">
                <a:latin typeface="Times New Roman" panose="02020603050405020304" pitchFamily="18" charset="0"/>
                <a:cs typeface="Times New Roman" panose="02020603050405020304" pitchFamily="18" charset="0"/>
              </a:rPr>
              <a:t>(2402840310003)</a:t>
            </a:r>
          </a:p>
          <a:p>
            <a:pPr algn="ctr"/>
            <a:endParaRPr lang="en-IN" sz="2000" b="1" dirty="0">
              <a:latin typeface="Arial" pitchFamily="34" charset="0"/>
              <a:cs typeface="Arial" pitchFamily="34" charset="0"/>
            </a:endParaRPr>
          </a:p>
          <a:p>
            <a:pPr algn="ctr"/>
            <a:endParaRPr lang="en-IN" sz="2000" b="1" dirty="0">
              <a:latin typeface="Arial" pitchFamily="34" charset="0"/>
              <a:cs typeface="Arial" pitchFamily="34" charset="0"/>
            </a:endParaRPr>
          </a:p>
        </p:txBody>
      </p:sp>
      <p:sp>
        <p:nvSpPr>
          <p:cNvPr id="9" name="TextBox 8"/>
          <p:cNvSpPr txBox="1"/>
          <p:nvPr/>
        </p:nvSpPr>
        <p:spPr>
          <a:xfrm>
            <a:off x="1356502" y="5155773"/>
            <a:ext cx="6577634" cy="400110"/>
          </a:xfrm>
          <a:prstGeom prst="rect">
            <a:avLst/>
          </a:prstGeom>
          <a:noFill/>
        </p:spPr>
        <p:txBody>
          <a:bodyPr wrap="none" rtlCol="0">
            <a:spAutoFit/>
          </a:bodyPr>
          <a:lstStyle/>
          <a:p>
            <a:r>
              <a:rPr lang="en-IN" sz="2000" b="1" dirty="0">
                <a:solidFill>
                  <a:schemeClr val="tx1">
                    <a:lumMod val="85000"/>
                    <a:lumOff val="15000"/>
                  </a:schemeClr>
                </a:solidFill>
                <a:latin typeface="Times New Roman" panose="02020603050405020304" pitchFamily="18" charset="0"/>
                <a:cs typeface="Times New Roman" panose="02020603050405020304" pitchFamily="18" charset="0"/>
              </a:rPr>
              <a:t>Department of Electronics &amp; Communication Engineering</a:t>
            </a:r>
            <a:endParaRPr lang="en-US" sz="2000" b="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1828800" y="5486400"/>
            <a:ext cx="5445080" cy="400110"/>
          </a:xfrm>
          <a:prstGeom prst="rect">
            <a:avLst/>
          </a:prstGeom>
          <a:noFill/>
        </p:spPr>
        <p:txBody>
          <a:bodyPr wrap="none" rtlCol="0">
            <a:spAutoFit/>
          </a:bodyPr>
          <a:lstStyle/>
          <a:p>
            <a:r>
              <a:rPr lang="en-IN" sz="2000" b="1" dirty="0">
                <a:solidFill>
                  <a:schemeClr val="tx1">
                    <a:lumMod val="85000"/>
                    <a:lumOff val="15000"/>
                  </a:schemeClr>
                </a:solidFill>
                <a:latin typeface="Times New Roman" panose="02020603050405020304" pitchFamily="18" charset="0"/>
                <a:cs typeface="Times New Roman" panose="02020603050405020304" pitchFamily="18" charset="0"/>
              </a:rPr>
              <a:t>United Institute of Technology, Naini, Prayagraj</a:t>
            </a:r>
            <a:endParaRPr lang="en-US" sz="2000" b="1"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12" name="Date Placeholder 11"/>
          <p:cNvSpPr>
            <a:spLocks noGrp="1"/>
          </p:cNvSpPr>
          <p:nvPr>
            <p:ph type="dt" sz="half" idx="10"/>
          </p:nvPr>
        </p:nvSpPr>
        <p:spPr/>
        <p:txBody>
          <a:bodyPr/>
          <a:lstStyle/>
          <a:p>
            <a:fld id="{7BC31898-A680-4A34-AE77-6E7E541C5D85}" type="datetime1">
              <a:rPr lang="en-US" sz="1400" b="1" smtClean="0">
                <a:latin typeface="Arial" pitchFamily="34" charset="0"/>
                <a:cs typeface="Arial" pitchFamily="34" charset="0"/>
              </a:rPr>
              <a:pPr/>
              <a:t>11/5/2025</a:t>
            </a:fld>
            <a:endParaRPr lang="en-US" sz="1400" b="1" dirty="0">
              <a:latin typeface="Arial" pitchFamily="34" charset="0"/>
              <a:cs typeface="Arial" pitchFamily="34" charset="0"/>
            </a:endParaRPr>
          </a:p>
        </p:txBody>
      </p:sp>
      <p:sp>
        <p:nvSpPr>
          <p:cNvPr id="14" name="Footer Placeholder 13"/>
          <p:cNvSpPr>
            <a:spLocks noGrp="1"/>
          </p:cNvSpPr>
          <p:nvPr>
            <p:ph type="ftr" sz="quarter" idx="11"/>
          </p:nvPr>
        </p:nvSpPr>
        <p:spPr/>
        <p:txBody>
          <a:bodyPr/>
          <a:lstStyle/>
          <a:p>
            <a:r>
              <a:rPr lang="en-US" sz="1400" b="1">
                <a:latin typeface="Arial" pitchFamily="34" charset="0"/>
                <a:cs typeface="Arial" pitchFamily="34" charset="0"/>
              </a:rPr>
              <a:t>United Institute of Technology</a:t>
            </a:r>
          </a:p>
        </p:txBody>
      </p:sp>
      <p:sp>
        <p:nvSpPr>
          <p:cNvPr id="13" name="Slide Number Placeholder 12"/>
          <p:cNvSpPr>
            <a:spLocks noGrp="1"/>
          </p:cNvSpPr>
          <p:nvPr>
            <p:ph type="sldNum" sz="quarter" idx="12"/>
          </p:nvPr>
        </p:nvSpPr>
        <p:spPr/>
        <p:txBody>
          <a:bodyPr/>
          <a:lstStyle/>
          <a:p>
            <a:fld id="{B6F15528-21DE-4FAA-801E-634DDDAF4B2B}" type="slidenum">
              <a:rPr lang="en-US" sz="1400" b="1" smtClean="0">
                <a:latin typeface="Arial" pitchFamily="34" charset="0"/>
                <a:cs typeface="Arial" pitchFamily="34" charset="0"/>
              </a:rPr>
              <a:pPr/>
              <a:t>1</a:t>
            </a:fld>
            <a:endParaRPr lang="en-US" sz="1400" b="1">
              <a:latin typeface="Arial" pitchFamily="34" charset="0"/>
              <a:cs typeface="Arial"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2C1D99-F703-2FF1-28B9-0D6F51639B4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099F8BC-5156-E289-0BE9-D4C15DDDEF0B}"/>
              </a:ext>
            </a:extLst>
          </p:cNvPr>
          <p:cNvSpPr>
            <a:spLocks noGrp="1"/>
          </p:cNvSpPr>
          <p:nvPr>
            <p:ph type="title"/>
          </p:nvPr>
        </p:nvSpPr>
        <p:spPr>
          <a:xfrm>
            <a:off x="628650" y="1447801"/>
            <a:ext cx="8515351" cy="4405738"/>
          </a:xfrm>
        </p:spPr>
        <p:txBody>
          <a:bodyPr vert="horz" lIns="91440" tIns="45720" rIns="91440" bIns="45720" rtlCol="0" anchor="ctr">
            <a:normAutofit/>
          </a:bodyPr>
          <a:lstStyle/>
          <a:p>
            <a:r>
              <a:rPr lang="en-US" sz="1400" b="1" dirty="0">
                <a:effectLst>
                  <a:outerShdw blurRad="38100" dist="38100" dir="2700000" algn="tl">
                    <a:srgbClr val="000000">
                      <a:alpha val="43137"/>
                    </a:srgbClr>
                  </a:outerShdw>
                </a:effectLst>
              </a:rPr>
              <a:t>                                          </a:t>
            </a:r>
            <a:r>
              <a:rPr lang="en-US" sz="1600" b="1" dirty="0">
                <a:effectLst>
                  <a:outerShdw blurRad="38100" dist="38100" dir="2700000" algn="tl">
                    <a:srgbClr val="000000">
                      <a:alpha val="43137"/>
                    </a:srgbClr>
                  </a:outerShdw>
                </a:effectLst>
              </a:rPr>
              <a:t>The Plan                                                                    </a:t>
            </a:r>
            <a:r>
              <a:rPr lang="en-US" sz="1400" b="1" dirty="0">
                <a:effectLst>
                  <a:outerShdw blurRad="38100" dist="38100" dir="2700000" algn="tl">
                    <a:srgbClr val="000000">
                      <a:alpha val="43137"/>
                    </a:srgbClr>
                  </a:outerShdw>
                </a:effectLst>
              </a:rPr>
              <a:t>The Analysis</a:t>
            </a:r>
            <a:br>
              <a:rPr lang="en-US" sz="1600" dirty="0"/>
            </a:br>
            <a:r>
              <a:rPr lang="en-US" sz="1200" dirty="0"/>
              <a:t>                                                   </a:t>
            </a:r>
            <a:r>
              <a:rPr lang="en-US" sz="1400" dirty="0"/>
              <a:t>Objective                                                                                  Advantages</a:t>
            </a:r>
            <a:br>
              <a:rPr lang="en-US" sz="1400" dirty="0"/>
            </a:br>
            <a:r>
              <a:rPr lang="en-US" sz="1400" dirty="0"/>
              <a:t>                                            Methodology                                                                           Result Analysis</a:t>
            </a:r>
            <a:br>
              <a:rPr lang="en-US" sz="1400" dirty="0"/>
            </a:br>
            <a:r>
              <a:rPr lang="en-US" sz="1400" dirty="0"/>
              <a:t>                                             Block Diagram                                                                       Conclusion</a:t>
            </a:r>
            <a:br>
              <a:rPr lang="en-US" sz="1600" dirty="0"/>
            </a:br>
            <a:r>
              <a:rPr lang="en-US" sz="1600" dirty="0"/>
              <a:t>    </a:t>
            </a:r>
            <a:br>
              <a:rPr lang="en-US" sz="1600" dirty="0"/>
            </a:br>
            <a:br>
              <a:rPr lang="en-US" sz="1600" dirty="0"/>
            </a:br>
            <a:br>
              <a:rPr lang="en-US" sz="1600" dirty="0"/>
            </a:br>
            <a:br>
              <a:rPr lang="en-US" sz="1600" dirty="0"/>
            </a:br>
            <a:br>
              <a:rPr lang="en-US" sz="1600" dirty="0"/>
            </a:br>
            <a:r>
              <a:rPr lang="en-US" sz="1600" dirty="0"/>
              <a:t> </a:t>
            </a:r>
            <a:r>
              <a:rPr lang="en-US" sz="1600" b="1" dirty="0"/>
              <a:t>The Problem                                              </a:t>
            </a:r>
            <a:r>
              <a:rPr lang="en-US" sz="1600" b="1" dirty="0">
                <a:effectLst>
                  <a:outerShdw blurRad="38100" dist="38100" dir="2700000" algn="tl">
                    <a:srgbClr val="000000">
                      <a:alpha val="43137"/>
                    </a:srgbClr>
                  </a:outerShdw>
                </a:effectLst>
              </a:rPr>
              <a:t>The Execution                                                           The Follow Up </a:t>
            </a:r>
            <a:r>
              <a:rPr lang="en-US" sz="1400" dirty="0"/>
              <a:t>  Introduction                                                              components used                                                                      Future Scope   Literature Review                                                     Working                                                                                         Applications</a:t>
            </a:r>
            <a:br>
              <a:rPr lang="en-US" sz="1400" dirty="0"/>
            </a:br>
            <a:r>
              <a:rPr lang="en-US" sz="1400" dirty="0"/>
              <a:t>Problem Formulation                                            Result Analysis                                                                           References</a:t>
            </a:r>
            <a:endParaRPr lang="en-US" sz="1400" b="1" i="1" u="sng" kern="1200" dirty="0">
              <a:solidFill>
                <a:schemeClr val="tx1"/>
              </a:solidFill>
              <a:latin typeface="+mj-lt"/>
              <a:ea typeface="+mj-ea"/>
              <a:cs typeface="+mj-cs"/>
            </a:endParaRPr>
          </a:p>
        </p:txBody>
      </p:sp>
      <p:sp>
        <p:nvSpPr>
          <p:cNvPr id="33" name="Text Placeholder 32">
            <a:extLst>
              <a:ext uri="{FF2B5EF4-FFF2-40B4-BE49-F238E27FC236}">
                <a16:creationId xmlns:a16="http://schemas.microsoft.com/office/drawing/2014/main" id="{6A02883D-C0C7-217D-4139-2F913B3D8BB3}"/>
              </a:ext>
            </a:extLst>
          </p:cNvPr>
          <p:cNvSpPr>
            <a:spLocks noGrp="1"/>
          </p:cNvSpPr>
          <p:nvPr>
            <p:ph type="body" idx="1"/>
          </p:nvPr>
        </p:nvSpPr>
        <p:spPr>
          <a:xfrm>
            <a:off x="172368" y="776726"/>
            <a:ext cx="7886700" cy="1500187"/>
          </a:xfrm>
        </p:spPr>
        <p:txBody>
          <a:bodyPr>
            <a:normAutofit/>
          </a:bodyPr>
          <a:lstStyle/>
          <a:p>
            <a:pPr algn="ctr"/>
            <a:r>
              <a:rPr lang="en-US" sz="2400" b="1" i="1" u="sng"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Content   </a:t>
            </a:r>
          </a:p>
        </p:txBody>
      </p:sp>
      <p:sp>
        <p:nvSpPr>
          <p:cNvPr id="2" name="Date Placeholder 1">
            <a:extLst>
              <a:ext uri="{FF2B5EF4-FFF2-40B4-BE49-F238E27FC236}">
                <a16:creationId xmlns:a16="http://schemas.microsoft.com/office/drawing/2014/main" id="{98459EF2-22F3-D6C7-35EF-58BF6BC2F365}"/>
              </a:ext>
            </a:extLst>
          </p:cNvPr>
          <p:cNvSpPr>
            <a:spLocks noGrp="1"/>
          </p:cNvSpPr>
          <p:nvPr>
            <p:ph type="dt" sz="half" idx="10"/>
          </p:nvPr>
        </p:nvSpPr>
        <p:spPr/>
        <p:txBody>
          <a:bodyPr vert="horz" lIns="91440" tIns="45720" rIns="91440" bIns="45720" rtlCol="0" anchor="ctr">
            <a:normAutofit/>
          </a:bodyPr>
          <a:lstStyle/>
          <a:p>
            <a:pPr>
              <a:spcAft>
                <a:spcPts val="600"/>
              </a:spcAft>
            </a:pPr>
            <a:fld id="{D26B0C30-6035-4D4C-B956-87E1D61995D0}" type="datetime1">
              <a:rPr lang="en-US" sz="1200">
                <a:solidFill>
                  <a:schemeClr val="tx1">
                    <a:lumMod val="50000"/>
                    <a:lumOff val="50000"/>
                  </a:schemeClr>
                </a:solidFill>
              </a:rPr>
              <a:pPr>
                <a:spcAft>
                  <a:spcPts val="600"/>
                </a:spcAft>
              </a:pPr>
              <a:t>11/5/2025</a:t>
            </a:fld>
            <a:endParaRPr lang="en-US" sz="120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DE89E6B-7E9E-20C3-7819-77651B7473F1}"/>
              </a:ext>
            </a:extLst>
          </p:cNvPr>
          <p:cNvSpPr>
            <a:spLocks noGrp="1"/>
          </p:cNvSpPr>
          <p:nvPr>
            <p:ph type="ftr" sz="quarter" idx="11"/>
          </p:nvPr>
        </p:nvSpPr>
        <p:spPr/>
        <p:txBody>
          <a:bodyPr vert="horz" lIns="91440" tIns="45720" rIns="91440" bIns="45720" rtlCol="0" anchor="ctr">
            <a:normAutofit/>
          </a:bodyPr>
          <a:lstStyle/>
          <a:p>
            <a:pPr>
              <a:spcAft>
                <a:spcPts val="600"/>
              </a:spcAft>
            </a:pPr>
            <a:r>
              <a:rPr lang="en-US" sz="1200" kern="1200">
                <a:solidFill>
                  <a:schemeClr val="tx1">
                    <a:lumMod val="50000"/>
                    <a:lumOff val="50000"/>
                  </a:schemeClr>
                </a:solidFill>
                <a:latin typeface="+mn-lt"/>
                <a:ea typeface="+mn-ea"/>
                <a:cs typeface="+mn-cs"/>
              </a:rPr>
              <a:t>United Institute of Technology</a:t>
            </a:r>
          </a:p>
        </p:txBody>
      </p:sp>
      <p:sp>
        <p:nvSpPr>
          <p:cNvPr id="4" name="Slide Number Placeholder 3">
            <a:extLst>
              <a:ext uri="{FF2B5EF4-FFF2-40B4-BE49-F238E27FC236}">
                <a16:creationId xmlns:a16="http://schemas.microsoft.com/office/drawing/2014/main" id="{92D5D658-D069-DF06-0773-6BBE65B6CC27}"/>
              </a:ext>
            </a:extLst>
          </p:cNvPr>
          <p:cNvSpPr>
            <a:spLocks noGrp="1"/>
          </p:cNvSpPr>
          <p:nvPr>
            <p:ph type="sldNum" sz="quarter" idx="12"/>
          </p:nvPr>
        </p:nvSpPr>
        <p:spPr/>
        <p:txBody>
          <a:bodyPr vert="horz" lIns="91440" tIns="45720" rIns="91440" bIns="45720" rtlCol="0" anchor="ctr">
            <a:normAutofit/>
          </a:bodyPr>
          <a:lstStyle/>
          <a:p>
            <a:pPr>
              <a:spcAft>
                <a:spcPts val="600"/>
              </a:spcAft>
            </a:pPr>
            <a:fld id="{B6F15528-21DE-4FAA-801E-634DDDAF4B2B}" type="slidenum">
              <a:rPr lang="en-US" sz="1200">
                <a:solidFill>
                  <a:schemeClr val="tx1">
                    <a:lumMod val="50000"/>
                    <a:lumOff val="50000"/>
                  </a:schemeClr>
                </a:solidFill>
              </a:rPr>
              <a:pPr>
                <a:spcAft>
                  <a:spcPts val="600"/>
                </a:spcAft>
              </a:pPr>
              <a:t>2</a:t>
            </a:fld>
            <a:endParaRPr lang="en-US" sz="1200">
              <a:solidFill>
                <a:schemeClr val="tx1">
                  <a:lumMod val="50000"/>
                  <a:lumOff val="50000"/>
                </a:schemeClr>
              </a:solidFill>
            </a:endParaRPr>
          </a:p>
        </p:txBody>
      </p:sp>
      <p:pic>
        <p:nvPicPr>
          <p:cNvPr id="5" name="Picture 4" descr="aktu logo.jpg">
            <a:extLst>
              <a:ext uri="{FF2B5EF4-FFF2-40B4-BE49-F238E27FC236}">
                <a16:creationId xmlns:a16="http://schemas.microsoft.com/office/drawing/2014/main" id="{781A05B3-A178-B15E-A715-3E19FBD35778}"/>
              </a:ext>
            </a:extLst>
          </p:cNvPr>
          <p:cNvPicPr>
            <a:picLocks noChangeAspect="1"/>
          </p:cNvPicPr>
          <p:nvPr/>
        </p:nvPicPr>
        <p:blipFill>
          <a:blip r:embed="rId2"/>
          <a:stretch>
            <a:fillRect/>
          </a:stretch>
        </p:blipFill>
        <p:spPr>
          <a:xfrm>
            <a:off x="266700" y="112068"/>
            <a:ext cx="1024768" cy="811032"/>
          </a:xfrm>
          <a:prstGeom prst="rect">
            <a:avLst/>
          </a:prstGeom>
        </p:spPr>
      </p:pic>
      <p:pic>
        <p:nvPicPr>
          <p:cNvPr id="6" name="Picture 5" descr="united logo.jpg">
            <a:extLst>
              <a:ext uri="{FF2B5EF4-FFF2-40B4-BE49-F238E27FC236}">
                <a16:creationId xmlns:a16="http://schemas.microsoft.com/office/drawing/2014/main" id="{9D1FE522-5F7E-2282-608E-E99EB62F27BB}"/>
              </a:ext>
            </a:extLst>
          </p:cNvPr>
          <p:cNvPicPr>
            <a:picLocks noChangeAspect="1"/>
          </p:cNvPicPr>
          <p:nvPr/>
        </p:nvPicPr>
        <p:blipFill>
          <a:blip r:embed="rId3"/>
          <a:stretch>
            <a:fillRect/>
          </a:stretch>
        </p:blipFill>
        <p:spPr>
          <a:xfrm>
            <a:off x="7710760" y="0"/>
            <a:ext cx="1233163" cy="923099"/>
          </a:xfrm>
          <a:prstGeom prst="rect">
            <a:avLst/>
          </a:prstGeom>
        </p:spPr>
      </p:pic>
      <p:cxnSp>
        <p:nvCxnSpPr>
          <p:cNvPr id="9" name="Straight Connector 8">
            <a:extLst>
              <a:ext uri="{FF2B5EF4-FFF2-40B4-BE49-F238E27FC236}">
                <a16:creationId xmlns:a16="http://schemas.microsoft.com/office/drawing/2014/main" id="{4A268A0E-0C2D-04B0-B223-3B50638062D3}"/>
              </a:ext>
            </a:extLst>
          </p:cNvPr>
          <p:cNvCxnSpPr>
            <a:cxnSpLocks/>
          </p:cNvCxnSpPr>
          <p:nvPr/>
        </p:nvCxnSpPr>
        <p:spPr>
          <a:xfrm>
            <a:off x="1083295" y="3723194"/>
            <a:ext cx="6977409" cy="105424"/>
          </a:xfrm>
          <a:prstGeom prst="line">
            <a:avLst/>
          </a:prstGeom>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7315F5C9-7A44-37D2-17AF-839680679A9E}"/>
              </a:ext>
            </a:extLst>
          </p:cNvPr>
          <p:cNvSpPr/>
          <p:nvPr/>
        </p:nvSpPr>
        <p:spPr>
          <a:xfrm>
            <a:off x="1007095" y="3646995"/>
            <a:ext cx="152400" cy="1523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A3A851B-7E82-40C3-5188-4EDB572CBD5C}"/>
              </a:ext>
            </a:extLst>
          </p:cNvPr>
          <p:cNvSpPr/>
          <p:nvPr/>
        </p:nvSpPr>
        <p:spPr>
          <a:xfrm>
            <a:off x="2626004" y="3673747"/>
            <a:ext cx="152400" cy="1523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FF12095-6045-C41C-5674-5A711A514724}"/>
              </a:ext>
            </a:extLst>
          </p:cNvPr>
          <p:cNvSpPr/>
          <p:nvPr/>
        </p:nvSpPr>
        <p:spPr>
          <a:xfrm>
            <a:off x="4283012" y="3686398"/>
            <a:ext cx="152400" cy="15239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880E4AD-2A4C-2BCA-D018-AE16C2118DC2}"/>
              </a:ext>
            </a:extLst>
          </p:cNvPr>
          <p:cNvSpPr/>
          <p:nvPr/>
        </p:nvSpPr>
        <p:spPr>
          <a:xfrm>
            <a:off x="6081678" y="3733793"/>
            <a:ext cx="182880" cy="1316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F8B8C31-F0EA-FAE7-B8D4-2C09D0E1688F}"/>
              </a:ext>
            </a:extLst>
          </p:cNvPr>
          <p:cNvSpPr/>
          <p:nvPr/>
        </p:nvSpPr>
        <p:spPr>
          <a:xfrm>
            <a:off x="7910824" y="3749945"/>
            <a:ext cx="148244" cy="1515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3083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253CA5-C955-6275-262E-4AEAFC1E0300}"/>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
            <a:extLst>
              <a:ext uri="{FF2B5EF4-FFF2-40B4-BE49-F238E27FC236}">
                <a16:creationId xmlns:a16="http://schemas.microsoft.com/office/drawing/2014/main" id="{DD54C38F-3AB2-C7C1-28EC-5D93E8E022FA}"/>
              </a:ext>
            </a:extLst>
          </p:cNvPr>
          <p:cNvSpPr>
            <a:spLocks noGrp="1" noChangeArrowheads="1"/>
          </p:cNvSpPr>
          <p:nvPr>
            <p:ph type="title"/>
          </p:nvPr>
        </p:nvSpPr>
        <p:spPr bwMode="auto">
          <a:xfrm>
            <a:off x="4773457" y="1874295"/>
            <a:ext cx="4212831" cy="384741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285750" lvl="0" indent="-285750" defTabSz="914400" fontAlgn="base">
              <a:spcAft>
                <a:spcPct val="0"/>
              </a:spcAft>
            </a:pPr>
            <a:r>
              <a:rPr lang="en-US" sz="1600" kern="1200" dirty="0">
                <a:solidFill>
                  <a:schemeClr val="tx2"/>
                </a:solidFill>
                <a:latin typeface="+mj-lt"/>
                <a:ea typeface="+mj-ea"/>
                <a:cs typeface="+mj-cs"/>
              </a:rPr>
              <a:t> </a:t>
            </a:r>
            <a:r>
              <a:rPr kumimoji="0" lang="en-US" altLang="en-US" sz="1600" b="1"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Focus:</a:t>
            </a:r>
            <a:r>
              <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Developing an automated system for real-time accident detection and emergency notification.</a:t>
            </a:r>
            <a:br>
              <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br>
            <a:endPar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600" b="1"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Goal:</a:t>
            </a:r>
            <a:r>
              <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To minimize the critical time gap between accident occurrence and professional help arriving.</a:t>
            </a:r>
            <a:br>
              <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br>
            <a:endPar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600" b="1"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Key Technologies:</a:t>
            </a:r>
            <a:r>
              <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Integration of embedded systems, GPS for location, and GSM for communication.</a:t>
            </a:r>
            <a:br>
              <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br>
            <a:endPar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600" b="1"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Impact:</a:t>
            </a:r>
            <a:r>
              <a:rPr kumimoji="0" lang="en-US" altLang="en-US" sz="1600" b="0" i="0" u="none" strike="noStrike" kern="1200" cap="none" normalizeH="0" baseline="0" dirty="0">
                <a:ln>
                  <a:noFill/>
                </a:ln>
                <a:solidFill>
                  <a:schemeClr val="tx2"/>
                </a:solidFill>
                <a:effectLst/>
                <a:latin typeface="Times New Roman" panose="02020603050405020304" pitchFamily="18" charset="0"/>
                <a:cs typeface="Times New Roman" panose="02020603050405020304" pitchFamily="18" charset="0"/>
              </a:rPr>
              <a:t> Aims to enhance road safety and potentially save lives by enabling quicker medical intervention.</a:t>
            </a:r>
          </a:p>
        </p:txBody>
      </p:sp>
      <p:sp>
        <p:nvSpPr>
          <p:cNvPr id="7" name="TextBox 6">
            <a:extLst>
              <a:ext uri="{FF2B5EF4-FFF2-40B4-BE49-F238E27FC236}">
                <a16:creationId xmlns:a16="http://schemas.microsoft.com/office/drawing/2014/main" id="{0CDFA693-9536-17AD-893C-53C550B08F8E}"/>
              </a:ext>
            </a:extLst>
          </p:cNvPr>
          <p:cNvSpPr txBox="1"/>
          <p:nvPr/>
        </p:nvSpPr>
        <p:spPr>
          <a:xfrm>
            <a:off x="3981168" y="438492"/>
            <a:ext cx="3061092" cy="457201"/>
          </a:xfrm>
          <a:prstGeom prst="rect">
            <a:avLst/>
          </a:prstGeom>
        </p:spPr>
        <p:txBody>
          <a:bodyPr vert="horz" lIns="91440" tIns="45720" rIns="91440" bIns="45720" rtlCol="0" anchor="b">
            <a:normAutofit/>
          </a:bodyPr>
          <a:lstStyle/>
          <a:p>
            <a:pPr>
              <a:lnSpc>
                <a:spcPct val="90000"/>
              </a:lnSpc>
              <a:spcBef>
                <a:spcPts val="1000"/>
              </a:spcBef>
            </a:pPr>
            <a:r>
              <a:rPr lang="en-US" sz="2400" b="1" i="1" u="sng" kern="1200" dirty="0">
                <a:solidFill>
                  <a:schemeClr val="tx2"/>
                </a:solidFill>
                <a:effectLst>
                  <a:outerShdw blurRad="38100" dist="38100" dir="2700000" algn="tl">
                    <a:srgbClr val="000000">
                      <a:alpha val="43137"/>
                    </a:srgbClr>
                  </a:outerShdw>
                </a:effectLst>
                <a:latin typeface="+mn-lt"/>
                <a:ea typeface="+mn-ea"/>
                <a:cs typeface="+mn-cs"/>
              </a:rPr>
              <a:t>Introduction</a:t>
            </a:r>
          </a:p>
        </p:txBody>
      </p:sp>
      <p:pic>
        <p:nvPicPr>
          <p:cNvPr id="13" name="Graphic 12" descr="Ambulance">
            <a:extLst>
              <a:ext uri="{FF2B5EF4-FFF2-40B4-BE49-F238E27FC236}">
                <a16:creationId xmlns:a16="http://schemas.microsoft.com/office/drawing/2014/main" id="{1996DFC2-A9C5-3CF3-45E7-E471961158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0" name="Group 19">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21" name="Freeform: Shape 20">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Date Placeholder 1">
            <a:extLst>
              <a:ext uri="{FF2B5EF4-FFF2-40B4-BE49-F238E27FC236}">
                <a16:creationId xmlns:a16="http://schemas.microsoft.com/office/drawing/2014/main" id="{88D28F2B-E9B1-12D5-B4D0-1AA93BAA0529}"/>
              </a:ext>
            </a:extLst>
          </p:cNvPr>
          <p:cNvSpPr>
            <a:spLocks noGrp="1"/>
          </p:cNvSpPr>
          <p:nvPr>
            <p:ph type="dt" sz="half" idx="10"/>
          </p:nvPr>
        </p:nvSpPr>
        <p:spPr>
          <a:xfrm>
            <a:off x="603504" y="6356350"/>
            <a:ext cx="2057400" cy="365125"/>
          </a:xfrm>
        </p:spPr>
        <p:txBody>
          <a:bodyPr vert="horz" lIns="91440" tIns="45720" rIns="91440" bIns="45720" rtlCol="0" anchor="ctr">
            <a:normAutofit/>
          </a:bodyPr>
          <a:lstStyle/>
          <a:p>
            <a:pPr>
              <a:spcAft>
                <a:spcPts val="600"/>
              </a:spcAft>
            </a:pPr>
            <a:fld id="{D26B0C30-6035-4D4C-B956-87E1D61995D0}" type="datetime1">
              <a:rPr lang="en-US" sz="1200" smtClean="0">
                <a:solidFill>
                  <a:schemeClr val="tx1">
                    <a:tint val="75000"/>
                  </a:schemeClr>
                </a:solidFill>
              </a:rPr>
              <a:pPr>
                <a:spcAft>
                  <a:spcPts val="600"/>
                </a:spcAft>
              </a:pPr>
              <a:t>11/5/2025</a:t>
            </a:fld>
            <a:endParaRPr lang="en-US" sz="1200">
              <a:solidFill>
                <a:schemeClr val="tx1">
                  <a:tint val="75000"/>
                </a:schemeClr>
              </a:solidFill>
            </a:endParaRPr>
          </a:p>
        </p:txBody>
      </p:sp>
      <p:sp>
        <p:nvSpPr>
          <p:cNvPr id="3" name="Footer Placeholder 2">
            <a:extLst>
              <a:ext uri="{FF2B5EF4-FFF2-40B4-BE49-F238E27FC236}">
                <a16:creationId xmlns:a16="http://schemas.microsoft.com/office/drawing/2014/main" id="{571D7C85-885C-F321-610C-881CF841DFE2}"/>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United Institute of Technology</a:t>
            </a:r>
          </a:p>
        </p:txBody>
      </p:sp>
      <p:sp>
        <p:nvSpPr>
          <p:cNvPr id="4" name="Slide Number Placeholder 3">
            <a:extLst>
              <a:ext uri="{FF2B5EF4-FFF2-40B4-BE49-F238E27FC236}">
                <a16:creationId xmlns:a16="http://schemas.microsoft.com/office/drawing/2014/main" id="{62164CEF-056F-921A-64E3-52D572F019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B6F15528-21DE-4FAA-801E-634DDDAF4B2B}" type="slidenum">
              <a:rPr lang="en-US" sz="1200" smtClean="0">
                <a:solidFill>
                  <a:schemeClr val="tx1">
                    <a:tint val="75000"/>
                  </a:schemeClr>
                </a:solidFill>
              </a:rPr>
              <a:pPr>
                <a:spcAft>
                  <a:spcPts val="600"/>
                </a:spcAft>
              </a:pPr>
              <a:t>3</a:t>
            </a:fld>
            <a:endParaRPr lang="en-US" sz="1200">
              <a:solidFill>
                <a:schemeClr val="tx1">
                  <a:tint val="75000"/>
                </a:schemeClr>
              </a:solidFill>
            </a:endParaRPr>
          </a:p>
        </p:txBody>
      </p:sp>
      <p:pic>
        <p:nvPicPr>
          <p:cNvPr id="5" name="Picture 4" descr="aktu logo.jpg">
            <a:extLst>
              <a:ext uri="{FF2B5EF4-FFF2-40B4-BE49-F238E27FC236}">
                <a16:creationId xmlns:a16="http://schemas.microsoft.com/office/drawing/2014/main" id="{04002E2B-D544-25CA-49AA-14299C821619}"/>
              </a:ext>
            </a:extLst>
          </p:cNvPr>
          <p:cNvPicPr>
            <a:picLocks noChangeAspect="1"/>
          </p:cNvPicPr>
          <p:nvPr/>
        </p:nvPicPr>
        <p:blipFill>
          <a:blip r:embed="rId4"/>
          <a:stretch>
            <a:fillRect/>
          </a:stretch>
        </p:blipFill>
        <p:spPr>
          <a:xfrm>
            <a:off x="551212" y="510228"/>
            <a:ext cx="1257300" cy="995065"/>
          </a:xfrm>
          <a:prstGeom prst="rect">
            <a:avLst/>
          </a:prstGeom>
        </p:spPr>
      </p:pic>
      <p:pic>
        <p:nvPicPr>
          <p:cNvPr id="6" name="Picture 5" descr="united logo.jpg">
            <a:extLst>
              <a:ext uri="{FF2B5EF4-FFF2-40B4-BE49-F238E27FC236}">
                <a16:creationId xmlns:a16="http://schemas.microsoft.com/office/drawing/2014/main" id="{64F7AE58-8EBA-3652-6EFE-D09E6A6F739F}"/>
              </a:ext>
            </a:extLst>
          </p:cNvPr>
          <p:cNvPicPr>
            <a:picLocks noChangeAspect="1"/>
          </p:cNvPicPr>
          <p:nvPr/>
        </p:nvPicPr>
        <p:blipFill>
          <a:blip r:embed="rId5"/>
          <a:stretch>
            <a:fillRect/>
          </a:stretch>
        </p:blipFill>
        <p:spPr>
          <a:xfrm>
            <a:off x="7299436" y="286093"/>
            <a:ext cx="1628723" cy="1219200"/>
          </a:xfrm>
          <a:prstGeom prst="rect">
            <a:avLst/>
          </a:prstGeom>
        </p:spPr>
      </p:pic>
    </p:spTree>
    <p:extLst>
      <p:ext uri="{BB962C8B-B14F-4D97-AF65-F5344CB8AC3E}">
        <p14:creationId xmlns:p14="http://schemas.microsoft.com/office/powerpoint/2010/main" val="3205826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C89E-4030-43D2-5A2E-5DB560A8D47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EE518DA-58DC-23DC-B31C-BCAC9EDED3FD}"/>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EDE3A1D5-C602-56EB-6BC6-942A8FA10198}"/>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F2B54A18-5AD1-6C75-8661-A8F975B86659}"/>
              </a:ext>
            </a:extLst>
          </p:cNvPr>
          <p:cNvSpPr>
            <a:spLocks noGrp="1"/>
          </p:cNvSpPr>
          <p:nvPr>
            <p:ph type="sldNum" sz="quarter" idx="12"/>
          </p:nvPr>
        </p:nvSpPr>
        <p:spPr/>
        <p:txBody>
          <a:bodyPr/>
          <a:lstStyle/>
          <a:p>
            <a:fld id="{B6F15528-21DE-4FAA-801E-634DDDAF4B2B}" type="slidenum">
              <a:rPr lang="en-US" smtClean="0"/>
              <a:pPr/>
              <a:t>4</a:t>
            </a:fld>
            <a:endParaRPr lang="en-US"/>
          </a:p>
        </p:txBody>
      </p:sp>
      <p:pic>
        <p:nvPicPr>
          <p:cNvPr id="5" name="Picture 4" descr="aktu logo.jpg">
            <a:extLst>
              <a:ext uri="{FF2B5EF4-FFF2-40B4-BE49-F238E27FC236}">
                <a16:creationId xmlns:a16="http://schemas.microsoft.com/office/drawing/2014/main" id="{F90441C5-A016-F97D-F7CA-34085D78AC7D}"/>
              </a:ext>
            </a:extLst>
          </p:cNvPr>
          <p:cNvPicPr>
            <a:picLocks noChangeAspect="1"/>
          </p:cNvPicPr>
          <p:nvPr/>
        </p:nvPicPr>
        <p:blipFill>
          <a:blip r:embed="rId2"/>
          <a:stretch>
            <a:fillRect/>
          </a:stretch>
        </p:blipFill>
        <p:spPr>
          <a:xfrm>
            <a:off x="200077" y="77431"/>
            <a:ext cx="866723" cy="685951"/>
          </a:xfrm>
          <a:prstGeom prst="rect">
            <a:avLst/>
          </a:prstGeom>
        </p:spPr>
      </p:pic>
      <p:pic>
        <p:nvPicPr>
          <p:cNvPr id="6" name="Picture 5" descr="united logo.jpg">
            <a:extLst>
              <a:ext uri="{FF2B5EF4-FFF2-40B4-BE49-F238E27FC236}">
                <a16:creationId xmlns:a16="http://schemas.microsoft.com/office/drawing/2014/main" id="{BAF8CC02-253D-ACC5-BC34-538BBF27F191}"/>
              </a:ext>
            </a:extLst>
          </p:cNvPr>
          <p:cNvPicPr>
            <a:picLocks noChangeAspect="1"/>
          </p:cNvPicPr>
          <p:nvPr/>
        </p:nvPicPr>
        <p:blipFill>
          <a:blip r:embed="rId3"/>
          <a:stretch>
            <a:fillRect/>
          </a:stretch>
        </p:blipFill>
        <p:spPr>
          <a:xfrm>
            <a:off x="7945612" y="-13131"/>
            <a:ext cx="1198388" cy="897068"/>
          </a:xfrm>
          <a:prstGeom prst="rect">
            <a:avLst/>
          </a:prstGeom>
        </p:spPr>
      </p:pic>
      <p:sp>
        <p:nvSpPr>
          <p:cNvPr id="7" name="TextBox 6">
            <a:extLst>
              <a:ext uri="{FF2B5EF4-FFF2-40B4-BE49-F238E27FC236}">
                <a16:creationId xmlns:a16="http://schemas.microsoft.com/office/drawing/2014/main" id="{9F90514D-5F58-6697-F5A5-8DF8656BC99C}"/>
              </a:ext>
            </a:extLst>
          </p:cNvPr>
          <p:cNvSpPr txBox="1"/>
          <p:nvPr/>
        </p:nvSpPr>
        <p:spPr>
          <a:xfrm>
            <a:off x="3124200" y="136524"/>
            <a:ext cx="3179588" cy="461665"/>
          </a:xfrm>
          <a:prstGeom prst="rect">
            <a:avLst/>
          </a:prstGeom>
          <a:noFill/>
        </p:spPr>
        <p:txBody>
          <a:bodyPr wrap="none" rtlCol="0">
            <a:spAutoFit/>
          </a:bodyPr>
          <a:lstStyle/>
          <a:p>
            <a:r>
              <a:rPr lang="en-US" sz="2400" b="1" i="1" u="sng" dirty="0">
                <a:latin typeface="Arial Black" panose="020B0A04020102020204" pitchFamily="34" charset="0"/>
              </a:rPr>
              <a:t>Literature Review</a:t>
            </a:r>
            <a:endParaRPr lang="en-US" b="1" i="1" u="sng" dirty="0">
              <a:latin typeface="Arial Black" panose="020B0A04020102020204" pitchFamily="34" charset="0"/>
            </a:endParaRPr>
          </a:p>
        </p:txBody>
      </p:sp>
      <p:graphicFrame>
        <p:nvGraphicFramePr>
          <p:cNvPr id="11" name="Table 10">
            <a:extLst>
              <a:ext uri="{FF2B5EF4-FFF2-40B4-BE49-F238E27FC236}">
                <a16:creationId xmlns:a16="http://schemas.microsoft.com/office/drawing/2014/main" id="{51DF96E0-1AFA-2DC7-16D7-3E4C8A17C58B}"/>
              </a:ext>
            </a:extLst>
          </p:cNvPr>
          <p:cNvGraphicFramePr>
            <a:graphicFrameLocks noGrp="1"/>
          </p:cNvGraphicFramePr>
          <p:nvPr>
            <p:extLst>
              <p:ext uri="{D42A27DB-BD31-4B8C-83A1-F6EECF244321}">
                <p14:modId xmlns:p14="http://schemas.microsoft.com/office/powerpoint/2010/main" val="678053657"/>
              </p:ext>
            </p:extLst>
          </p:nvPr>
        </p:nvGraphicFramePr>
        <p:xfrm>
          <a:off x="0" y="790612"/>
          <a:ext cx="9144000" cy="5779619"/>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329892194"/>
                    </a:ext>
                  </a:extLst>
                </a:gridCol>
                <a:gridCol w="1524000">
                  <a:extLst>
                    <a:ext uri="{9D8B030D-6E8A-4147-A177-3AD203B41FA5}">
                      <a16:colId xmlns:a16="http://schemas.microsoft.com/office/drawing/2014/main" val="1826969005"/>
                    </a:ext>
                  </a:extLst>
                </a:gridCol>
                <a:gridCol w="1524000">
                  <a:extLst>
                    <a:ext uri="{9D8B030D-6E8A-4147-A177-3AD203B41FA5}">
                      <a16:colId xmlns:a16="http://schemas.microsoft.com/office/drawing/2014/main" val="407896902"/>
                    </a:ext>
                  </a:extLst>
                </a:gridCol>
                <a:gridCol w="1524000">
                  <a:extLst>
                    <a:ext uri="{9D8B030D-6E8A-4147-A177-3AD203B41FA5}">
                      <a16:colId xmlns:a16="http://schemas.microsoft.com/office/drawing/2014/main" val="4025999620"/>
                    </a:ext>
                  </a:extLst>
                </a:gridCol>
                <a:gridCol w="1524000">
                  <a:extLst>
                    <a:ext uri="{9D8B030D-6E8A-4147-A177-3AD203B41FA5}">
                      <a16:colId xmlns:a16="http://schemas.microsoft.com/office/drawing/2014/main" val="3309694241"/>
                    </a:ext>
                  </a:extLst>
                </a:gridCol>
                <a:gridCol w="1524000">
                  <a:extLst>
                    <a:ext uri="{9D8B030D-6E8A-4147-A177-3AD203B41FA5}">
                      <a16:colId xmlns:a16="http://schemas.microsoft.com/office/drawing/2014/main" val="1968758175"/>
                    </a:ext>
                  </a:extLst>
                </a:gridCol>
              </a:tblGrid>
              <a:tr h="525441">
                <a:tc>
                  <a:txBody>
                    <a:bodyPr/>
                    <a:lstStyle/>
                    <a:p>
                      <a:r>
                        <a:rPr lang="en-US" dirty="0"/>
                        <a:t>source(author , year)</a:t>
                      </a:r>
                    </a:p>
                  </a:txBody>
                  <a:tcPr/>
                </a:tc>
                <a:tc>
                  <a:txBody>
                    <a:bodyPr/>
                    <a:lstStyle/>
                    <a:p>
                      <a:r>
                        <a:rPr lang="en-US" dirty="0"/>
                        <a:t>objective</a:t>
                      </a:r>
                    </a:p>
                  </a:txBody>
                  <a:tcPr/>
                </a:tc>
                <a:tc>
                  <a:txBody>
                    <a:bodyPr/>
                    <a:lstStyle/>
                    <a:p>
                      <a:r>
                        <a:rPr lang="en-US" dirty="0"/>
                        <a:t>Methodology </a:t>
                      </a:r>
                    </a:p>
                  </a:txBody>
                  <a:tcPr/>
                </a:tc>
                <a:tc>
                  <a:txBody>
                    <a:bodyPr/>
                    <a:lstStyle/>
                    <a:p>
                      <a:r>
                        <a:rPr lang="en-US" dirty="0"/>
                        <a:t>Key findings</a:t>
                      </a:r>
                    </a:p>
                  </a:txBody>
                  <a:tcPr/>
                </a:tc>
                <a:tc>
                  <a:txBody>
                    <a:bodyPr/>
                    <a:lstStyle/>
                    <a:p>
                      <a:r>
                        <a:rPr lang="en-US" dirty="0"/>
                        <a:t>Limitations</a:t>
                      </a:r>
                    </a:p>
                  </a:txBody>
                  <a:tcPr/>
                </a:tc>
                <a:tc>
                  <a:txBody>
                    <a:bodyPr/>
                    <a:lstStyle/>
                    <a:p>
                      <a:r>
                        <a:rPr lang="en-US" dirty="0"/>
                        <a:t>Relevance to my project</a:t>
                      </a:r>
                    </a:p>
                  </a:txBody>
                  <a:tcPr/>
                </a:tc>
                <a:extLst>
                  <a:ext uri="{0D108BD9-81ED-4DB2-BD59-A6C34878D82A}">
                    <a16:rowId xmlns:a16="http://schemas.microsoft.com/office/drawing/2014/main" val="3795602748"/>
                  </a:ext>
                </a:extLst>
              </a:tr>
              <a:tr h="155266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Patel &amp; Kumar (2023)</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To develop a low-cost accident detection system</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Experimental; threshold-based algorithm.</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- 92% detection accuracy in high-impact scenarios.</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 Reliant on user's smartphone being present and properly mounted.</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 My project must use a more advanced model.</a:t>
                      </a:r>
                    </a:p>
                  </a:txBody>
                  <a:tcPr/>
                </a:tc>
                <a:extLst>
                  <a:ext uri="{0D108BD9-81ED-4DB2-BD59-A6C34878D82A}">
                    <a16:rowId xmlns:a16="http://schemas.microsoft.com/office/drawing/2014/main" val="319198816"/>
                  </a:ext>
                </a:extLst>
              </a:tr>
              <a:tr h="155266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Chen et al. (2022)</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To build a real-time accident detection system using dashcam video</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Computer Vision (CV) model; trained on a public dataset of car crash videos.</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95% accuracy in detecting visual signs of an accident.</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Computationally expensive; requires a powerful processing unit (GPU).</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 hybrid system combining CV with sensors might be better.</a:t>
                      </a:r>
                    </a:p>
                    <a:p>
                      <a:endParaRPr lang="en-US" dirty="0"/>
                    </a:p>
                  </a:txBody>
                  <a:tcPr/>
                </a:tc>
                <a:extLst>
                  <a:ext uri="{0D108BD9-81ED-4DB2-BD59-A6C34878D82A}">
                    <a16:rowId xmlns:a16="http://schemas.microsoft.com/office/drawing/2014/main" val="2341507704"/>
                  </a:ext>
                </a:extLst>
              </a:tr>
              <a:tr h="191400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Al-Majeed (2021)</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To design a dedicated hardware module (IoT device) for automatic accident</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Prototyping; used an Arduino, MPU6050 accelerometer, GPS module, and a GSM module for SMS alerts</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Higher unit cost compared to a smartphone app.</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Higher unit cost compared to a smartphone app.</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This is a strong model for the "alerting" part of my project. It proves the reliability of a GPS + GSM combination for sending alerts</a:t>
                      </a:r>
                    </a:p>
                    <a:p>
                      <a:endParaRPr lang="en-US" dirty="0"/>
                    </a:p>
                  </a:txBody>
                  <a:tcPr/>
                </a:tc>
                <a:extLst>
                  <a:ext uri="{0D108BD9-81ED-4DB2-BD59-A6C34878D82A}">
                    <a16:rowId xmlns:a16="http://schemas.microsoft.com/office/drawing/2014/main" val="1162063961"/>
                  </a:ext>
                </a:extLst>
              </a:tr>
            </a:tbl>
          </a:graphicData>
        </a:graphic>
      </p:graphicFrame>
    </p:spTree>
    <p:extLst>
      <p:ext uri="{BB962C8B-B14F-4D97-AF65-F5344CB8AC3E}">
        <p14:creationId xmlns:p14="http://schemas.microsoft.com/office/powerpoint/2010/main" val="4078423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465B-DAE6-7467-1336-C8A9083AC18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592617F-FE4F-F8B5-086F-DFA87F589111}"/>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1CF6968A-5496-0F4C-BC8B-1684C7A51CE2}"/>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73A50D65-26CC-A2EF-5AB5-C60FEDD74D2F}"/>
              </a:ext>
            </a:extLst>
          </p:cNvPr>
          <p:cNvSpPr>
            <a:spLocks noGrp="1"/>
          </p:cNvSpPr>
          <p:nvPr>
            <p:ph type="sldNum" sz="quarter" idx="12"/>
          </p:nvPr>
        </p:nvSpPr>
        <p:spPr/>
        <p:txBody>
          <a:bodyPr/>
          <a:lstStyle/>
          <a:p>
            <a:fld id="{B6F15528-21DE-4FAA-801E-634DDDAF4B2B}" type="slidenum">
              <a:rPr lang="en-US" smtClean="0"/>
              <a:pPr/>
              <a:t>5</a:t>
            </a:fld>
            <a:endParaRPr lang="en-US"/>
          </a:p>
        </p:txBody>
      </p:sp>
      <p:pic>
        <p:nvPicPr>
          <p:cNvPr id="5" name="Picture 4" descr="aktu logo.jpg">
            <a:extLst>
              <a:ext uri="{FF2B5EF4-FFF2-40B4-BE49-F238E27FC236}">
                <a16:creationId xmlns:a16="http://schemas.microsoft.com/office/drawing/2014/main" id="{8269CE85-A7B2-F09F-F692-38FCE8111646}"/>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037433CD-650F-E6A8-2BC4-0A1C1FB9EBCB}"/>
              </a:ext>
            </a:extLst>
          </p:cNvPr>
          <p:cNvPicPr>
            <a:picLocks noChangeAspect="1"/>
          </p:cNvPicPr>
          <p:nvPr/>
        </p:nvPicPr>
        <p:blipFill>
          <a:blip r:embed="rId3"/>
          <a:stretch>
            <a:fillRect/>
          </a:stretch>
        </p:blipFill>
        <p:spPr>
          <a:xfrm>
            <a:off x="7515277" y="-1"/>
            <a:ext cx="1628723" cy="1219200"/>
          </a:xfrm>
          <a:prstGeom prst="rect">
            <a:avLst/>
          </a:prstGeom>
        </p:spPr>
      </p:pic>
      <p:sp>
        <p:nvSpPr>
          <p:cNvPr id="7" name="TextBox 6">
            <a:extLst>
              <a:ext uri="{FF2B5EF4-FFF2-40B4-BE49-F238E27FC236}">
                <a16:creationId xmlns:a16="http://schemas.microsoft.com/office/drawing/2014/main" id="{9D5A23E7-24FC-708E-E7C1-F15071662D03}"/>
              </a:ext>
            </a:extLst>
          </p:cNvPr>
          <p:cNvSpPr txBox="1"/>
          <p:nvPr/>
        </p:nvSpPr>
        <p:spPr>
          <a:xfrm>
            <a:off x="2686050" y="533400"/>
            <a:ext cx="4207669" cy="461665"/>
          </a:xfrm>
          <a:prstGeom prst="rect">
            <a:avLst/>
          </a:prstGeom>
          <a:noFill/>
        </p:spPr>
        <p:txBody>
          <a:bodyPr wrap="square" rtlCol="0">
            <a:spAutoFit/>
          </a:bodyPr>
          <a:lstStyle/>
          <a:p>
            <a:r>
              <a:rPr lang="en-US" sz="2400" b="1" i="1" u="sng" dirty="0">
                <a:effectLst>
                  <a:outerShdw blurRad="38100" dist="38100" dir="2700000" algn="tl">
                    <a:srgbClr val="000000">
                      <a:alpha val="43137"/>
                    </a:srgbClr>
                  </a:outerShdw>
                </a:effectLst>
                <a:latin typeface="Arial Black" panose="020B0A04020102020204" pitchFamily="34" charset="0"/>
              </a:rPr>
              <a:t>Problem Formulation</a:t>
            </a:r>
            <a:endParaRPr lang="en-US" b="1" i="1" u="sng" dirty="0">
              <a:effectLst>
                <a:outerShdw blurRad="38100" dist="38100" dir="2700000" algn="tl">
                  <a:srgbClr val="000000">
                    <a:alpha val="43137"/>
                  </a:srgbClr>
                </a:outerShdw>
              </a:effectLst>
              <a:latin typeface="Arial Black" panose="020B0A04020102020204" pitchFamily="34" charset="0"/>
            </a:endParaRPr>
          </a:p>
        </p:txBody>
      </p:sp>
      <p:sp>
        <p:nvSpPr>
          <p:cNvPr id="8" name="Rectangle 1">
            <a:extLst>
              <a:ext uri="{FF2B5EF4-FFF2-40B4-BE49-F238E27FC236}">
                <a16:creationId xmlns:a16="http://schemas.microsoft.com/office/drawing/2014/main" id="{A7402257-9C4A-C759-454B-21196FD5713C}"/>
              </a:ext>
            </a:extLst>
          </p:cNvPr>
          <p:cNvSpPr>
            <a:spLocks noGrp="1" noChangeArrowheads="1"/>
          </p:cNvSpPr>
          <p:nvPr>
            <p:ph type="title"/>
          </p:nvPr>
        </p:nvSpPr>
        <p:spPr bwMode="auto">
          <a:xfrm>
            <a:off x="916132" y="1767493"/>
            <a:ext cx="78486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Specific Challenges Addressed</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Reliability of Detection: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to differentiate between a bump/pothole and a genuine accident (solved by tilt threshold).</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Power Dependency:</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GSM modules are power-hungry (addressed by dedicated power supply).</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Location Accuracy:</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precise GPS coordinates, even in adverse conditions.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Interaction: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Providing both automatic and manual alert triggers.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9405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642CF-F37E-4534-25A2-B8B879FF0F6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50F120B-5AA6-3F0D-4F7B-F215DE4CA7F0}"/>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4791E3DE-3EA0-4A0D-29BE-53D045B3E1C6}"/>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7F8D5AEB-AB37-0E4C-F2FA-15572AE0A35F}"/>
              </a:ext>
            </a:extLst>
          </p:cNvPr>
          <p:cNvSpPr>
            <a:spLocks noGrp="1"/>
          </p:cNvSpPr>
          <p:nvPr>
            <p:ph type="sldNum" sz="quarter" idx="12"/>
          </p:nvPr>
        </p:nvSpPr>
        <p:spPr/>
        <p:txBody>
          <a:bodyPr/>
          <a:lstStyle/>
          <a:p>
            <a:fld id="{B6F15528-21DE-4FAA-801E-634DDDAF4B2B}" type="slidenum">
              <a:rPr lang="en-US" smtClean="0"/>
              <a:pPr/>
              <a:t>6</a:t>
            </a:fld>
            <a:endParaRPr lang="en-US"/>
          </a:p>
        </p:txBody>
      </p:sp>
      <p:pic>
        <p:nvPicPr>
          <p:cNvPr id="5" name="Picture 4" descr="aktu logo.jpg">
            <a:extLst>
              <a:ext uri="{FF2B5EF4-FFF2-40B4-BE49-F238E27FC236}">
                <a16:creationId xmlns:a16="http://schemas.microsoft.com/office/drawing/2014/main" id="{A8AC44AB-C54A-5D26-67C8-4B47933546C5}"/>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26D74857-D3E8-FB27-C095-72FFEA653B0B}"/>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BBDC31BE-D916-096E-F3A9-F03583CC229E}"/>
              </a:ext>
            </a:extLst>
          </p:cNvPr>
          <p:cNvSpPr txBox="1"/>
          <p:nvPr/>
        </p:nvSpPr>
        <p:spPr>
          <a:xfrm>
            <a:off x="3200400" y="533400"/>
            <a:ext cx="1970476" cy="461665"/>
          </a:xfrm>
          <a:prstGeom prst="rect">
            <a:avLst/>
          </a:prstGeom>
          <a:noFill/>
        </p:spPr>
        <p:txBody>
          <a:bodyPr wrap="none" rtlCol="0">
            <a:spAutoFit/>
          </a:bodyPr>
          <a:lstStyle/>
          <a:p>
            <a:r>
              <a:rPr lang="en-IN" sz="2400" b="1" i="1" u="sng" dirty="0">
                <a:latin typeface="Arial Black" pitchFamily="34" charset="0"/>
              </a:rPr>
              <a:t>Objectives</a:t>
            </a:r>
            <a:endParaRPr lang="en-US" b="1" i="1" u="sng" dirty="0">
              <a:latin typeface="Arial Black" pitchFamily="34" charset="0"/>
            </a:endParaRPr>
          </a:p>
        </p:txBody>
      </p:sp>
      <p:sp>
        <p:nvSpPr>
          <p:cNvPr id="8" name="Rectangle 1">
            <a:extLst>
              <a:ext uri="{FF2B5EF4-FFF2-40B4-BE49-F238E27FC236}">
                <a16:creationId xmlns:a16="http://schemas.microsoft.com/office/drawing/2014/main" id="{F9CFFB6B-2CBC-A453-84F5-706AA75402C2}"/>
              </a:ext>
            </a:extLst>
          </p:cNvPr>
          <p:cNvSpPr>
            <a:spLocks noGrp="1" noChangeArrowheads="1"/>
          </p:cNvSpPr>
          <p:nvPr>
            <p:ph type="title"/>
          </p:nvPr>
        </p:nvSpPr>
        <p:spPr bwMode="auto">
          <a:xfrm>
            <a:off x="628650" y="1775955"/>
            <a:ext cx="805815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Specific Objectives - I (Detection &amp; Safety)</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Tilt/Impact Detection:</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ADXL335 to monitor vehicle orientation and detect unusual tilt exceeding a calibrated threshold.</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Manual Alert Trigger:</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Incorporate a physical button for the user to manually initiate an accident alert.</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Local Audio Warning:</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Activate a buzzer upon accident detection to alert nearby individuals.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374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51657-2736-B849-FC58-E3D2B277078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2420FD8-384A-EA8C-C6B0-9BF9EDC1F8F2}"/>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C7E46F1D-32B9-153E-D404-4BC9D7845C12}"/>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1472F71A-DB20-7333-A8D2-412DBE5E944A}"/>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5" name="Picture 4" descr="aktu logo.jpg">
            <a:extLst>
              <a:ext uri="{FF2B5EF4-FFF2-40B4-BE49-F238E27FC236}">
                <a16:creationId xmlns:a16="http://schemas.microsoft.com/office/drawing/2014/main" id="{22BC54EE-F938-4598-AF9D-2B4AFABD3274}"/>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5E3F64C2-AF64-A98A-3826-655D23EB1351}"/>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41B0FCB7-634C-F4C8-3F47-1265BEB4B968}"/>
              </a:ext>
            </a:extLst>
          </p:cNvPr>
          <p:cNvSpPr txBox="1"/>
          <p:nvPr/>
        </p:nvSpPr>
        <p:spPr>
          <a:xfrm>
            <a:off x="3200400" y="533400"/>
            <a:ext cx="2342757" cy="461665"/>
          </a:xfrm>
          <a:prstGeom prst="rect">
            <a:avLst/>
          </a:prstGeom>
          <a:noFill/>
        </p:spPr>
        <p:txBody>
          <a:bodyPr wrap="none" rtlCol="0">
            <a:spAutoFit/>
          </a:bodyPr>
          <a:lstStyle/>
          <a:p>
            <a:r>
              <a:rPr lang="en-IN" sz="2400" b="1" i="1" u="sng" dirty="0">
                <a:latin typeface="Arial Black" pitchFamily="34" charset="0"/>
              </a:rPr>
              <a:t>Methodology</a:t>
            </a:r>
            <a:endParaRPr lang="en-US" b="1" i="1" u="sng" dirty="0">
              <a:latin typeface="Arial Black" pitchFamily="34" charset="0"/>
            </a:endParaRPr>
          </a:p>
        </p:txBody>
      </p:sp>
      <p:sp>
        <p:nvSpPr>
          <p:cNvPr id="8" name="Rectangle 1">
            <a:extLst>
              <a:ext uri="{FF2B5EF4-FFF2-40B4-BE49-F238E27FC236}">
                <a16:creationId xmlns:a16="http://schemas.microsoft.com/office/drawing/2014/main" id="{6A8AA187-A829-CC93-34B3-E501328C09D0}"/>
              </a:ext>
            </a:extLst>
          </p:cNvPr>
          <p:cNvSpPr>
            <a:spLocks noGrp="1" noChangeArrowheads="1"/>
          </p:cNvSpPr>
          <p:nvPr>
            <p:ph type="title"/>
          </p:nvPr>
        </p:nvSpPr>
        <p:spPr bwMode="auto">
          <a:xfrm>
            <a:off x="628650" y="1600200"/>
            <a:ext cx="83058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Design Overview</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Microcontroller-Centric:</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Arduino acts as the central processing unit, coordinating all operations.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Integration: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Interfacing ADXL335 and GPS modules for data acquisition.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Layer: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GSM module for wireless long-range emergency communication.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Actuation Layer: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Motor driver, relay, and buzzer for physical responses.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Feedback:</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LCD and buttons for interaction and status display.</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8721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1605-59FD-E8AD-47A8-3EF3CA51DE5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73E7F9F-0507-6951-9B5D-8230A135052B}"/>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398936D9-186D-C5C7-72A0-CA456BFC8817}"/>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95DBF53A-855B-F19B-6762-917848E215EB}"/>
              </a:ext>
            </a:extLst>
          </p:cNvPr>
          <p:cNvSpPr>
            <a:spLocks noGrp="1"/>
          </p:cNvSpPr>
          <p:nvPr>
            <p:ph type="sldNum" sz="quarter" idx="12"/>
          </p:nvPr>
        </p:nvSpPr>
        <p:spPr/>
        <p:txBody>
          <a:bodyPr/>
          <a:lstStyle/>
          <a:p>
            <a:fld id="{B6F15528-21DE-4FAA-801E-634DDDAF4B2B}" type="slidenum">
              <a:rPr lang="en-US" smtClean="0"/>
              <a:pPr/>
              <a:t>8</a:t>
            </a:fld>
            <a:endParaRPr lang="en-US"/>
          </a:p>
        </p:txBody>
      </p:sp>
      <p:pic>
        <p:nvPicPr>
          <p:cNvPr id="5" name="Picture 4" descr="aktu logo.jpg">
            <a:extLst>
              <a:ext uri="{FF2B5EF4-FFF2-40B4-BE49-F238E27FC236}">
                <a16:creationId xmlns:a16="http://schemas.microsoft.com/office/drawing/2014/main" id="{937DA63E-D089-2F57-86B9-678A61A76B13}"/>
              </a:ext>
            </a:extLst>
          </p:cNvPr>
          <p:cNvPicPr>
            <a:picLocks noChangeAspect="1"/>
          </p:cNvPicPr>
          <p:nvPr/>
        </p:nvPicPr>
        <p:blipFill>
          <a:blip r:embed="rId2"/>
          <a:stretch>
            <a:fillRect/>
          </a:stretch>
        </p:blipFill>
        <p:spPr>
          <a:xfrm>
            <a:off x="267618" y="112067"/>
            <a:ext cx="1257300" cy="995065"/>
          </a:xfrm>
          <a:prstGeom prst="rect">
            <a:avLst/>
          </a:prstGeom>
        </p:spPr>
      </p:pic>
      <p:pic>
        <p:nvPicPr>
          <p:cNvPr id="6" name="Picture 5" descr="united logo.jpg">
            <a:extLst>
              <a:ext uri="{FF2B5EF4-FFF2-40B4-BE49-F238E27FC236}">
                <a16:creationId xmlns:a16="http://schemas.microsoft.com/office/drawing/2014/main" id="{2D7D9535-589D-3B8E-03E1-C69ABF6FBA57}"/>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023198AA-7D90-3EB7-847C-87C09DC001D0}"/>
              </a:ext>
            </a:extLst>
          </p:cNvPr>
          <p:cNvSpPr txBox="1"/>
          <p:nvPr/>
        </p:nvSpPr>
        <p:spPr>
          <a:xfrm>
            <a:off x="3200400" y="533400"/>
            <a:ext cx="2342757" cy="461665"/>
          </a:xfrm>
          <a:prstGeom prst="rect">
            <a:avLst/>
          </a:prstGeom>
          <a:noFill/>
        </p:spPr>
        <p:txBody>
          <a:bodyPr wrap="none" rtlCol="0">
            <a:spAutoFit/>
          </a:bodyPr>
          <a:lstStyle/>
          <a:p>
            <a:r>
              <a:rPr lang="en-IN" sz="2400" b="1" i="1" u="sng" dirty="0">
                <a:latin typeface="Arial Black" pitchFamily="34" charset="0"/>
              </a:rPr>
              <a:t>Methodology</a:t>
            </a:r>
            <a:endParaRPr lang="en-US" b="1" i="1" u="sng" dirty="0">
              <a:latin typeface="Arial Black" pitchFamily="34" charset="0"/>
            </a:endParaRPr>
          </a:p>
        </p:txBody>
      </p:sp>
      <p:sp>
        <p:nvSpPr>
          <p:cNvPr id="8" name="Rectangle 1">
            <a:extLst>
              <a:ext uri="{FF2B5EF4-FFF2-40B4-BE49-F238E27FC236}">
                <a16:creationId xmlns:a16="http://schemas.microsoft.com/office/drawing/2014/main" id="{B9A940B2-ACE1-E4DC-D86B-289ACA1AD902}"/>
              </a:ext>
            </a:extLst>
          </p:cNvPr>
          <p:cNvSpPr>
            <a:spLocks noGrp="1" noChangeArrowheads="1"/>
          </p:cNvSpPr>
          <p:nvPr>
            <p:ph type="title"/>
          </p:nvPr>
        </p:nvSpPr>
        <p:spPr bwMode="auto">
          <a:xfrm>
            <a:off x="790523" y="1633338"/>
            <a:ext cx="8153400"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Actuator Control</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L298N Motor Driver (ENA, IN1, IN2, ENB, IN3, IN4):</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Controls direction and speed of two DC motors.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analogWrite(ENA, speed); sets motor speed during normal operation.</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5V Relay Module (relayPin = 4):</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digitalWrite(relayPin, HIGH); in handleAccident() to activate.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cut power to ignition, fuel pump, or other safety mechanisms.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Buzzer (buzzerPin = 2):</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digitalWrite(buzzerPin, HIGH); in handleAccident() for immediate audible alarm.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digitalWrite(buzzerPin, LOW); for normal operation.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813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931D8-279E-8624-7010-AF06054C910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60F62306-594A-C8D9-C0D7-E952CD94110C}"/>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635F8E72-6518-111F-7D44-8D0E814BCFE0}"/>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B1D4755E-27D5-BA04-D99D-CCD17A1189D9}"/>
              </a:ext>
            </a:extLst>
          </p:cNvPr>
          <p:cNvSpPr>
            <a:spLocks noGrp="1"/>
          </p:cNvSpPr>
          <p:nvPr>
            <p:ph type="sldNum" sz="quarter" idx="12"/>
          </p:nvPr>
        </p:nvSpPr>
        <p:spPr/>
        <p:txBody>
          <a:bodyPr/>
          <a:lstStyle/>
          <a:p>
            <a:fld id="{B6F15528-21DE-4FAA-801E-634DDDAF4B2B}" type="slidenum">
              <a:rPr lang="en-US" smtClean="0"/>
              <a:pPr/>
              <a:t>9</a:t>
            </a:fld>
            <a:endParaRPr lang="en-US"/>
          </a:p>
        </p:txBody>
      </p:sp>
      <p:pic>
        <p:nvPicPr>
          <p:cNvPr id="5" name="Picture 4" descr="aktu logo.jpg">
            <a:extLst>
              <a:ext uri="{FF2B5EF4-FFF2-40B4-BE49-F238E27FC236}">
                <a16:creationId xmlns:a16="http://schemas.microsoft.com/office/drawing/2014/main" id="{1EBC58AB-6F0F-5EBE-0765-AD79AC4239D2}"/>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6EEA2D1D-B3D2-8491-A452-0FA968733D30}"/>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416AA03B-6EDA-B297-0E74-8DE465470B88}"/>
              </a:ext>
            </a:extLst>
          </p:cNvPr>
          <p:cNvSpPr txBox="1"/>
          <p:nvPr/>
        </p:nvSpPr>
        <p:spPr>
          <a:xfrm>
            <a:off x="2569240" y="453568"/>
            <a:ext cx="4005520" cy="461665"/>
          </a:xfrm>
          <a:prstGeom prst="rect">
            <a:avLst/>
          </a:prstGeom>
          <a:noFill/>
        </p:spPr>
        <p:txBody>
          <a:bodyPr wrap="none" rtlCol="0">
            <a:spAutoFit/>
          </a:bodyPr>
          <a:lstStyle/>
          <a:p>
            <a:r>
              <a:rPr lang="en-US" sz="2400" dirty="0">
                <a:latin typeface="Arial Black" panose="020B0A04020102020204" pitchFamily="34" charset="0"/>
              </a:rPr>
              <a:t>System Block Diagram</a:t>
            </a:r>
            <a:endParaRPr lang="en-US" b="1" i="1" u="sng" dirty="0">
              <a:latin typeface="Arial Black" panose="020B0A04020102020204" pitchFamily="34" charset="0"/>
            </a:endParaRPr>
          </a:p>
        </p:txBody>
      </p:sp>
      <p:pic>
        <p:nvPicPr>
          <p:cNvPr id="15" name="Picture 14">
            <a:extLst>
              <a:ext uri="{FF2B5EF4-FFF2-40B4-BE49-F238E27FC236}">
                <a16:creationId xmlns:a16="http://schemas.microsoft.com/office/drawing/2014/main" id="{915FE1FB-78FE-8BB8-82C6-6BCF23304C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891" y="1297679"/>
            <a:ext cx="7886699" cy="5560321"/>
          </a:xfrm>
          <a:prstGeom prst="rect">
            <a:avLst/>
          </a:prstGeom>
        </p:spPr>
      </p:pic>
    </p:spTree>
    <p:extLst>
      <p:ext uri="{BB962C8B-B14F-4D97-AF65-F5344CB8AC3E}">
        <p14:creationId xmlns:p14="http://schemas.microsoft.com/office/powerpoint/2010/main" val="207775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BFD995-65B9-1C1C-1046-9267AF88997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656480"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2493"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1">
            <a:extLst>
              <a:ext uri="{FF2B5EF4-FFF2-40B4-BE49-F238E27FC236}">
                <a16:creationId xmlns:a16="http://schemas.microsoft.com/office/drawing/2014/main" id="{B12D5ABC-0FB5-EF53-29E9-40FAD80D19E6}"/>
              </a:ext>
            </a:extLst>
          </p:cNvPr>
          <p:cNvSpPr>
            <a:spLocks noGrp="1" noChangeArrowheads="1"/>
          </p:cNvSpPr>
          <p:nvPr>
            <p:ph type="title"/>
          </p:nvPr>
        </p:nvSpPr>
        <p:spPr bwMode="auto">
          <a:xfrm>
            <a:off x="366823" y="1106034"/>
            <a:ext cx="3764306" cy="32041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fontScale="90000"/>
          </a:bodyPr>
          <a:lstStyle/>
          <a:p>
            <a:pPr marL="285750" marR="0" lvl="0" indent="-285750" defTabSz="914400" fontAlgn="base">
              <a:spcAft>
                <a:spcPct val="0"/>
              </a:spcAft>
              <a:buClrTx/>
              <a:buSzTx/>
              <a:tabLst/>
            </a:pPr>
            <a:b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t>ADXL335 Accelerometer:</a:t>
            </a:r>
            <a:b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t>Type:</a:t>
            </a: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 Analog 3-axis accelerometer.</a:t>
            </a:r>
            <a:b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t>Function:</a:t>
            </a: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 Detects static acceleration (gravity for tilt) and dynamic acceleration (impact).</a:t>
            </a:r>
            <a:b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t>Wiring:</a:t>
            </a: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 X, Y, Z outputs to Arduino A0, A1, A2.</a:t>
            </a:r>
            <a:b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t>TinyGPS Module:</a:t>
            </a:r>
            <a:b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500" b="1" i="0" u="none" strike="noStrike" cap="none" normalizeH="0" baseline="0" dirty="0">
                <a:ln>
                  <a:noFill/>
                </a:ln>
                <a:effectLst/>
                <a:latin typeface="Times New Roman" panose="02020603050405020304" pitchFamily="18" charset="0"/>
                <a:cs typeface="Times New Roman" panose="02020603050405020304" pitchFamily="18" charset="0"/>
              </a:rPr>
              <a:t>Type:</a:t>
            </a:r>
            <a:r>
              <a:rPr kumimoji="0" lang="en-US" altLang="en-US" sz="1500" b="0" i="0" u="none" strike="noStrike" cap="none" normalizeH="0" baseline="0" dirty="0">
                <a:ln>
                  <a:noFill/>
                </a:ln>
                <a:effectLst/>
                <a:latin typeface="Times New Roman" panose="02020603050405020304" pitchFamily="18" charset="0"/>
                <a:cs typeface="Times New Roman" panose="02020603050405020304" pitchFamily="18" charset="0"/>
              </a:rPr>
              <a:t> GPS(Global Positioning System) receiver module.</a:t>
            </a:r>
          </a:p>
          <a:p>
            <a:pPr marL="0" marR="0" lvl="0" indent="0" defTabSz="914400" fontAlgn="base">
              <a:spcAft>
                <a:spcPct val="0"/>
              </a:spcAft>
              <a:buClrTx/>
              <a:buSzTx/>
              <a:tabLst/>
            </a:pPr>
            <a:endParaRPr kumimoji="0" lang="en-US" altLang="en-US" sz="1500" b="0" i="0" u="none" strike="noStrike" cap="none" normalizeH="0" baseline="0" dirty="0">
              <a:ln>
                <a:noFill/>
              </a:ln>
              <a:effectLst/>
            </a:endParaRPr>
          </a:p>
        </p:txBody>
      </p:sp>
      <p:sp>
        <p:nvSpPr>
          <p:cNvPr id="7" name="TextBox 6">
            <a:extLst>
              <a:ext uri="{FF2B5EF4-FFF2-40B4-BE49-F238E27FC236}">
                <a16:creationId xmlns:a16="http://schemas.microsoft.com/office/drawing/2014/main" id="{CA6FB4EB-F38E-42AB-3044-155BB2F69C3D}"/>
              </a:ext>
            </a:extLst>
          </p:cNvPr>
          <p:cNvSpPr txBox="1"/>
          <p:nvPr/>
        </p:nvSpPr>
        <p:spPr>
          <a:xfrm>
            <a:off x="370593" y="4872922"/>
            <a:ext cx="3760273" cy="1208141"/>
          </a:xfrm>
          <a:prstGeom prst="rect">
            <a:avLst/>
          </a:prstGeom>
        </p:spPr>
        <p:txBody>
          <a:bodyPr vert="horz" lIns="91440" tIns="45720" rIns="91440" bIns="45720" rtlCol="0">
            <a:normAutofit/>
          </a:bodyPr>
          <a:lstStyle/>
          <a:p>
            <a:pPr>
              <a:lnSpc>
                <a:spcPct val="90000"/>
              </a:lnSpc>
              <a:spcBef>
                <a:spcPts val="1000"/>
              </a:spcBef>
            </a:pPr>
            <a:r>
              <a:rPr lang="en-US" sz="2400" b="1" i="1" u="sng"/>
              <a:t>COMPONENTS</a:t>
            </a: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7704"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0" name="Picture 10" descr="DBEX NEO-6M GPS Module NEO6MV2 with Flight Control EEPROM MWC APM2.5 Large  Antenna for Arduino : Amazon.in: Electronics">
            <a:extLst>
              <a:ext uri="{FF2B5EF4-FFF2-40B4-BE49-F238E27FC236}">
                <a16:creationId xmlns:a16="http://schemas.microsoft.com/office/drawing/2014/main" id="{1C35DD90-84CD-479C-E541-042DB6915C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448805" y="771988"/>
            <a:ext cx="3014505" cy="2743200"/>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23" y="4546920"/>
            <a:ext cx="376430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6" descr="Adafruit ADXL335 - 5V ready triple-axis accelerometer (+-3g analog out)  [ADA163] : Amazon.in: Grocery &amp; Gourmet Foods">
            <a:extLst>
              <a:ext uri="{FF2B5EF4-FFF2-40B4-BE49-F238E27FC236}">
                <a16:creationId xmlns:a16="http://schemas.microsoft.com/office/drawing/2014/main" id="{DC54C641-A209-EE05-391C-9177FA938C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245553" y="4078734"/>
            <a:ext cx="3531625" cy="1686350"/>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0792D301-1A8C-AF12-098F-1700D214670A}"/>
              </a:ext>
            </a:extLst>
          </p:cNvPr>
          <p:cNvSpPr>
            <a:spLocks noGrp="1"/>
          </p:cNvSpPr>
          <p:nvPr>
            <p:ph type="dt" sz="half" idx="10"/>
          </p:nvPr>
        </p:nvSpPr>
        <p:spPr>
          <a:xfrm>
            <a:off x="366822" y="6356350"/>
            <a:ext cx="1017816" cy="365125"/>
          </a:xfrm>
        </p:spPr>
        <p:txBody>
          <a:bodyPr vert="horz" lIns="91440" tIns="45720" rIns="91440" bIns="45720" rtlCol="0" anchor="ctr">
            <a:normAutofit/>
          </a:bodyPr>
          <a:lstStyle/>
          <a:p>
            <a:pPr>
              <a:spcAft>
                <a:spcPts val="600"/>
              </a:spcAft>
            </a:pPr>
            <a:fld id="{D26B0C30-6035-4D4C-B956-87E1D61995D0}" type="datetime1">
              <a:rPr lang="en-US" sz="1000">
                <a:solidFill>
                  <a:schemeClr val="tx1">
                    <a:lumMod val="50000"/>
                    <a:lumOff val="50000"/>
                  </a:schemeClr>
                </a:solidFill>
              </a:rPr>
              <a:pPr>
                <a:spcAft>
                  <a:spcPts val="600"/>
                </a:spcAft>
              </a:pPr>
              <a:t>11/5/2025</a:t>
            </a:fld>
            <a:endParaRPr lang="en-US" sz="100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97EDE376-4EE8-D409-87BB-8191C517CE7A}"/>
              </a:ext>
            </a:extLst>
          </p:cNvPr>
          <p:cNvSpPr>
            <a:spLocks noGrp="1"/>
          </p:cNvSpPr>
          <p:nvPr>
            <p:ph type="ftr" sz="quarter" idx="11"/>
          </p:nvPr>
        </p:nvSpPr>
        <p:spPr>
          <a:xfrm>
            <a:off x="1571625" y="6356350"/>
            <a:ext cx="2559241" cy="365125"/>
          </a:xfrm>
        </p:spPr>
        <p:txBody>
          <a:bodyPr vert="horz" lIns="91440" tIns="45720" rIns="91440" bIns="45720" rtlCol="0" anchor="ctr">
            <a:normAutofit/>
          </a:bodyPr>
          <a:lstStyle/>
          <a:p>
            <a:pPr algn="r">
              <a:spcAft>
                <a:spcPts val="600"/>
              </a:spcAft>
            </a:pPr>
            <a:r>
              <a:rPr lang="en-US" sz="1000" kern="1200">
                <a:solidFill>
                  <a:schemeClr val="tx1">
                    <a:lumMod val="50000"/>
                    <a:lumOff val="50000"/>
                  </a:schemeClr>
                </a:solidFill>
                <a:latin typeface="+mn-lt"/>
                <a:ea typeface="+mn-ea"/>
                <a:cs typeface="+mn-cs"/>
              </a:rPr>
              <a:t>United Institute of Technology</a:t>
            </a:r>
          </a:p>
        </p:txBody>
      </p:sp>
      <p:sp>
        <p:nvSpPr>
          <p:cNvPr id="4" name="Slide Number Placeholder 3">
            <a:extLst>
              <a:ext uri="{FF2B5EF4-FFF2-40B4-BE49-F238E27FC236}">
                <a16:creationId xmlns:a16="http://schemas.microsoft.com/office/drawing/2014/main" id="{46F95E02-2F99-AA19-55AF-0DDA9BB0BAAF}"/>
              </a:ext>
            </a:extLst>
          </p:cNvPr>
          <p:cNvSpPr>
            <a:spLocks noGrp="1"/>
          </p:cNvSpPr>
          <p:nvPr>
            <p:ph type="sldNum" sz="quarter" idx="12"/>
          </p:nvPr>
        </p:nvSpPr>
        <p:spPr>
          <a:xfrm>
            <a:off x="7874737" y="6356350"/>
            <a:ext cx="902440" cy="365125"/>
          </a:xfrm>
        </p:spPr>
        <p:txBody>
          <a:bodyPr vert="horz" lIns="91440" tIns="45720" rIns="91440" bIns="45720" rtlCol="0" anchor="ctr">
            <a:normAutofit/>
          </a:bodyPr>
          <a:lstStyle/>
          <a:p>
            <a:pPr>
              <a:spcAft>
                <a:spcPts val="600"/>
              </a:spcAft>
            </a:pPr>
            <a:fld id="{B6F15528-21DE-4FAA-801E-634DDDAF4B2B}" type="slidenum">
              <a:rPr lang="en-US" sz="1000">
                <a:solidFill>
                  <a:schemeClr val="tx1">
                    <a:lumMod val="50000"/>
                    <a:lumOff val="50000"/>
                  </a:schemeClr>
                </a:solidFill>
              </a:rPr>
              <a:pPr>
                <a:spcAft>
                  <a:spcPts val="600"/>
                </a:spcAft>
              </a:pPr>
              <a:t>10</a:t>
            </a:fld>
            <a:endParaRPr lang="en-US" sz="1000">
              <a:solidFill>
                <a:schemeClr val="tx1">
                  <a:lumMod val="50000"/>
                  <a:lumOff val="50000"/>
                </a:schemeClr>
              </a:solidFill>
            </a:endParaRPr>
          </a:p>
        </p:txBody>
      </p:sp>
      <p:pic>
        <p:nvPicPr>
          <p:cNvPr id="5" name="Picture 4" descr="aktu logo.jpg">
            <a:extLst>
              <a:ext uri="{FF2B5EF4-FFF2-40B4-BE49-F238E27FC236}">
                <a16:creationId xmlns:a16="http://schemas.microsoft.com/office/drawing/2014/main" id="{C22D33B9-D127-4CB8-69EA-1EDCB430364B}"/>
              </a:ext>
            </a:extLst>
          </p:cNvPr>
          <p:cNvPicPr>
            <a:picLocks noChangeAspect="1"/>
          </p:cNvPicPr>
          <p:nvPr/>
        </p:nvPicPr>
        <p:blipFill>
          <a:blip r:embed="rId4"/>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6762796A-E423-0401-BE39-A6D73E7C59C0}"/>
              </a:ext>
            </a:extLst>
          </p:cNvPr>
          <p:cNvPicPr>
            <a:picLocks noChangeAspect="1"/>
          </p:cNvPicPr>
          <p:nvPr/>
        </p:nvPicPr>
        <p:blipFill>
          <a:blip r:embed="rId5"/>
          <a:stretch>
            <a:fillRect/>
          </a:stretch>
        </p:blipFill>
        <p:spPr>
          <a:xfrm>
            <a:off x="7315200" y="0"/>
            <a:ext cx="1628723" cy="1219200"/>
          </a:xfrm>
          <a:prstGeom prst="rect">
            <a:avLst/>
          </a:prstGeom>
        </p:spPr>
      </p:pic>
    </p:spTree>
    <p:extLst>
      <p:ext uri="{BB962C8B-B14F-4D97-AF65-F5344CB8AC3E}">
        <p14:creationId xmlns:p14="http://schemas.microsoft.com/office/powerpoint/2010/main" val="2197682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AFD24B-C6B8-C7C3-F6F2-B482DC28CB2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8" name="Rectangle 1">
            <a:extLst>
              <a:ext uri="{FF2B5EF4-FFF2-40B4-BE49-F238E27FC236}">
                <a16:creationId xmlns:a16="http://schemas.microsoft.com/office/drawing/2014/main" id="{7F7F351A-DB82-28BF-6ADE-11081F39916E}"/>
              </a:ext>
            </a:extLst>
          </p:cNvPr>
          <p:cNvSpPr>
            <a:spLocks noGrp="1" noChangeArrowheads="1"/>
          </p:cNvSpPr>
          <p:nvPr>
            <p:ph type="title"/>
          </p:nvPr>
        </p:nvSpPr>
        <p:spPr bwMode="auto">
          <a:xfrm>
            <a:off x="482601" y="643467"/>
            <a:ext cx="3465438" cy="456713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285750" marR="0" lvl="0" indent="-285750" defTabSz="914400" fontAlgn="base">
              <a:spcAft>
                <a:spcPct val="0"/>
              </a:spcAft>
              <a:buClrTx/>
              <a:buSzTx/>
              <a:tabLst/>
            </a:pPr>
            <a:br>
              <a:rPr kumimoji="0" lang="en-US" altLang="en-US" sz="1200" b="1" i="0" u="none" strike="noStrike" kern="1200" cap="none" normalizeH="0" baseline="0" dirty="0">
                <a:ln>
                  <a:noFill/>
                </a:ln>
                <a:solidFill>
                  <a:schemeClr val="tx1"/>
                </a:solidFill>
                <a:effectLst/>
                <a:latin typeface="+mj-lt"/>
                <a:ea typeface="+mj-ea"/>
                <a:cs typeface="+mj-cs"/>
              </a:rPr>
            </a:br>
            <a:endParaRPr kumimoji="0" lang="en-US" altLang="en-US" sz="1200" b="1" i="0" u="none" strike="noStrike" kern="1200" cap="none" normalizeH="0" baseline="0" dirty="0">
              <a:ln>
                <a:noFill/>
              </a:ln>
              <a:solidFill>
                <a:schemeClr val="tx1"/>
              </a:solidFill>
              <a:effectLst/>
              <a:latin typeface="+mj-lt"/>
              <a:ea typeface="+mj-ea"/>
              <a:cs typeface="+mj-cs"/>
            </a:endParaRPr>
          </a:p>
          <a:p>
            <a:pPr marR="0" lvl="0" defTabSz="914400" fontAlgn="base">
              <a:spcAft>
                <a:spcPct val="0"/>
              </a:spcAft>
              <a:buClrTx/>
              <a:buSzTx/>
              <a:tabLst/>
            </a:pPr>
            <a:br>
              <a:rPr kumimoji="0" lang="en-US" altLang="en-US" sz="1200" b="1"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lvl="0" defTabSz="914400" fontAlgn="base">
              <a:spcAft>
                <a:spcPct val="0"/>
              </a:spcAft>
            </a:pPr>
            <a:br>
              <a:rPr kumimoji="0" lang="en-US" altLang="en-US" sz="1200" b="0" i="0" u="none" strike="noStrike" kern="1200" cap="none" normalizeH="0" baseline="0" dirty="0">
                <a:ln>
                  <a:noFill/>
                </a:ln>
                <a:solidFill>
                  <a:schemeClr val="tx1"/>
                </a:solidFill>
                <a:effectLst/>
                <a:latin typeface="+mj-lt"/>
                <a:ea typeface="+mj-ea"/>
                <a:cs typeface="+mj-cs"/>
              </a:rPr>
            </a:br>
            <a:r>
              <a:rPr kumimoji="0" lang="en-US" altLang="en-US" sz="1200" b="0" i="0" u="none" strike="noStrike" kern="1200" cap="none" normalizeH="0" baseline="0" dirty="0">
                <a:ln>
                  <a:noFill/>
                </a:ln>
                <a:solidFill>
                  <a:schemeClr val="tx1"/>
                </a:solidFill>
                <a:effectLst/>
                <a:latin typeface="+mj-lt"/>
                <a:ea typeface="+mj-ea"/>
                <a:cs typeface="+mj-cs"/>
              </a:rPr>
              <a:t>                </a:t>
            </a:r>
            <a:br>
              <a:rPr kumimoji="0" lang="en-US" altLang="en-US" sz="1200" b="0" i="0" u="none" strike="noStrike" kern="1200" cap="none" normalizeH="0" baseline="0" dirty="0">
                <a:ln>
                  <a:noFill/>
                </a:ln>
                <a:solidFill>
                  <a:schemeClr val="tx1"/>
                </a:solidFill>
                <a:effectLst/>
                <a:latin typeface="+mj-lt"/>
                <a:ea typeface="+mj-ea"/>
                <a:cs typeface="+mj-cs"/>
              </a:rPr>
            </a:br>
            <a:br>
              <a:rPr kumimoji="0" lang="en-US" altLang="en-US" sz="1200" b="0" i="0" u="none" strike="noStrike" kern="1200" cap="none" normalizeH="0" baseline="0" dirty="0">
                <a:ln>
                  <a:noFill/>
                </a:ln>
                <a:solidFill>
                  <a:schemeClr val="tx1"/>
                </a:solidFill>
                <a:effectLst/>
                <a:latin typeface="+mj-lt"/>
                <a:ea typeface="+mj-ea"/>
                <a:cs typeface="+mj-cs"/>
              </a:rPr>
            </a:br>
            <a:br>
              <a:rPr kumimoji="0" lang="en-US" altLang="en-US" sz="1200" b="0" i="0" u="none" strike="noStrike" kern="1200" cap="none" normalizeH="0" baseline="0" dirty="0">
                <a:ln>
                  <a:noFill/>
                </a:ln>
                <a:solidFill>
                  <a:schemeClr val="tx1"/>
                </a:solidFill>
                <a:effectLst/>
                <a:latin typeface="+mj-lt"/>
                <a:ea typeface="+mj-ea"/>
                <a:cs typeface="+mj-cs"/>
              </a:rPr>
            </a:br>
            <a:r>
              <a:rPr kumimoji="0" lang="en-US" altLang="en-US" sz="1200" b="0" i="0" u="none" strike="noStrike" kern="1200" cap="none" normalizeH="0" baseline="0" dirty="0">
                <a:ln>
                  <a:noFill/>
                </a:ln>
                <a:solidFill>
                  <a:schemeClr val="tx1"/>
                </a:solidFill>
                <a:effectLst/>
                <a:latin typeface="+mj-lt"/>
                <a:ea typeface="+mj-ea"/>
                <a:cs typeface="+mj-cs"/>
              </a:rPr>
              <a:t>  (</a:t>
            </a:r>
            <a:r>
              <a:rPr lang="en-US" sz="1200" kern="1200" dirty="0">
                <a:solidFill>
                  <a:schemeClr val="tx1"/>
                </a:solidFill>
                <a:latin typeface="+mj-lt"/>
                <a:ea typeface="+mj-ea"/>
                <a:cs typeface="+mj-cs"/>
              </a:rPr>
              <a:t>reading inputs, processing them through code, and controlling outputs</a:t>
            </a:r>
            <a:r>
              <a:rPr lang="en-US" sz="1200" b="1" kern="1200" dirty="0">
                <a:solidFill>
                  <a:schemeClr val="tx1"/>
                </a:solidFill>
                <a:latin typeface="+mj-lt"/>
                <a:ea typeface="+mj-ea"/>
                <a:cs typeface="+mj-cs"/>
              </a:rPr>
              <a:t>)</a:t>
            </a:r>
            <a:br>
              <a:rPr lang="en-US" sz="1200" b="1" kern="1200" dirty="0">
                <a:solidFill>
                  <a:schemeClr val="tx1"/>
                </a:solidFill>
                <a:latin typeface="+mj-lt"/>
                <a:ea typeface="+mj-ea"/>
                <a:cs typeface="+mj-cs"/>
              </a:rPr>
            </a:br>
            <a:br>
              <a:rPr kumimoji="0" lang="en-US" altLang="en-US" sz="1200" b="0"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marL="285750" marR="0" lvl="0" indent="-28575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External Power Supply (for GSM):</a:t>
            </a:r>
            <a:br>
              <a:rPr kumimoji="0" lang="en-US" altLang="en-US" sz="1200" b="1"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marL="285750" marR="0" lvl="0" indent="-28575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Requirement:</a:t>
            </a:r>
            <a:r>
              <a:rPr kumimoji="0" lang="en-US" altLang="en-US" sz="1200" b="0" i="0" u="none" strike="noStrike" kern="1200" cap="none" normalizeH="0" baseline="0" dirty="0">
                <a:ln>
                  <a:noFill/>
                </a:ln>
                <a:solidFill>
                  <a:schemeClr val="tx1"/>
                </a:solidFill>
                <a:effectLst/>
                <a:latin typeface="+mj-lt"/>
                <a:ea typeface="+mj-ea"/>
                <a:cs typeface="+mj-cs"/>
              </a:rPr>
              <a:t> 5V, 2A DC supply for the SIM900A module.</a:t>
            </a:r>
            <a:br>
              <a:rPr kumimoji="0" lang="en-US" altLang="en-US" sz="1200" b="0"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marL="285750" marR="0" lvl="0" indent="-28575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Importance:</a:t>
            </a:r>
            <a:r>
              <a:rPr kumimoji="0" lang="en-US" altLang="en-US" sz="1200" b="0" i="0" u="none" strike="noStrike" kern="1200" cap="none" normalizeH="0" baseline="0" dirty="0">
                <a:ln>
                  <a:noFill/>
                </a:ln>
                <a:solidFill>
                  <a:schemeClr val="tx1"/>
                </a:solidFill>
                <a:effectLst/>
                <a:latin typeface="+mj-lt"/>
                <a:ea typeface="+mj-ea"/>
                <a:cs typeface="+mj-cs"/>
              </a:rPr>
              <a:t> GSM modules have high current draw during transmission bursts. Arduino's 5V pin cannot provide enough current, leading to resets.</a:t>
            </a:r>
            <a:br>
              <a:rPr kumimoji="0" lang="en-US" altLang="en-US" sz="1200" b="0"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marL="0" marR="0" lvl="0" indent="0" defTabSz="914400" fontAlgn="base">
              <a:spcAft>
                <a:spcPct val="0"/>
              </a:spcAft>
              <a:buClrTx/>
              <a:buSzTx/>
              <a:tabLst/>
            </a:pPr>
            <a:endParaRPr kumimoji="0" lang="en-US" altLang="en-US" sz="1200" b="0" i="0" u="none" strike="noStrike" kern="1200" cap="none" normalizeH="0" baseline="0" dirty="0">
              <a:ln>
                <a:noFill/>
              </a:ln>
              <a:solidFill>
                <a:schemeClr val="tx1"/>
              </a:solidFill>
              <a:effectLst/>
              <a:latin typeface="+mj-lt"/>
              <a:ea typeface="+mj-ea"/>
              <a:cs typeface="+mj-cs"/>
            </a:endParaRPr>
          </a:p>
        </p:txBody>
      </p:sp>
      <p:sp>
        <p:nvSpPr>
          <p:cNvPr id="7" name="TextBox 6">
            <a:extLst>
              <a:ext uri="{FF2B5EF4-FFF2-40B4-BE49-F238E27FC236}">
                <a16:creationId xmlns:a16="http://schemas.microsoft.com/office/drawing/2014/main" id="{D92AE294-0D6A-5830-11C6-23CB2F7FEE1D}"/>
              </a:ext>
            </a:extLst>
          </p:cNvPr>
          <p:cNvSpPr txBox="1"/>
          <p:nvPr/>
        </p:nvSpPr>
        <p:spPr>
          <a:xfrm>
            <a:off x="3463244" y="555476"/>
            <a:ext cx="3465438" cy="775494"/>
          </a:xfrm>
          <a:prstGeom prst="rect">
            <a:avLst/>
          </a:prstGeom>
        </p:spPr>
        <p:txBody>
          <a:bodyPr vert="horz" lIns="91440" tIns="45720" rIns="91440" bIns="45720" rtlCol="0">
            <a:normAutofit/>
          </a:bodyPr>
          <a:lstStyle/>
          <a:p>
            <a:pPr>
              <a:lnSpc>
                <a:spcPct val="90000"/>
              </a:lnSpc>
              <a:spcBef>
                <a:spcPts val="1000"/>
              </a:spcBef>
            </a:pPr>
            <a:r>
              <a:rPr lang="en-US" sz="2400" b="1" i="1" u="sng" kern="1200" dirty="0">
                <a:solidFill>
                  <a:schemeClr val="tx1"/>
                </a:solidFill>
                <a:latin typeface="+mn-lt"/>
                <a:ea typeface="+mn-ea"/>
                <a:cs typeface="+mn-cs"/>
              </a:rPr>
              <a:t>Components</a:t>
            </a:r>
          </a:p>
        </p:txBody>
      </p:sp>
      <p:pic>
        <p:nvPicPr>
          <p:cNvPr id="10" name="Picture 2" descr="What is an Arduino? - SparkFun Learn">
            <a:extLst>
              <a:ext uri="{FF2B5EF4-FFF2-40B4-BE49-F238E27FC236}">
                <a16:creationId xmlns:a16="http://schemas.microsoft.com/office/drawing/2014/main" id="{C39AC772-452B-AE86-6C0C-2E4A23277C9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54689" y="2066784"/>
            <a:ext cx="3706710" cy="2724431"/>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FB85013E-8D40-2EB2-A225-FBB977CDD212}"/>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spcAft>
                <a:spcPts val="600"/>
              </a:spcAft>
            </a:pPr>
            <a:fld id="{D26B0C30-6035-4D4C-B956-87E1D61995D0}" type="datetime1">
              <a:rPr lang="en-US" sz="1200" smtClean="0">
                <a:solidFill>
                  <a:schemeClr val="tx1">
                    <a:tint val="75000"/>
                  </a:schemeClr>
                </a:solidFill>
              </a:rPr>
              <a:pPr>
                <a:spcAft>
                  <a:spcPts val="600"/>
                </a:spcAft>
              </a:pPr>
              <a:t>11/5/2025</a:t>
            </a:fld>
            <a:endParaRPr lang="en-US" sz="1200">
              <a:solidFill>
                <a:schemeClr val="tx1">
                  <a:tint val="75000"/>
                </a:schemeClr>
              </a:solidFill>
            </a:endParaRPr>
          </a:p>
        </p:txBody>
      </p:sp>
      <p:sp>
        <p:nvSpPr>
          <p:cNvPr id="3" name="Footer Placeholder 2">
            <a:extLst>
              <a:ext uri="{FF2B5EF4-FFF2-40B4-BE49-F238E27FC236}">
                <a16:creationId xmlns:a16="http://schemas.microsoft.com/office/drawing/2014/main" id="{0F5748D6-D706-BE67-45C3-325EE4F07ADE}"/>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spcAft>
                <a:spcPts val="600"/>
              </a:spcAft>
            </a:pPr>
            <a:r>
              <a:rPr lang="en-US" sz="1200" kern="1200">
                <a:solidFill>
                  <a:schemeClr val="tx1">
                    <a:tint val="75000"/>
                  </a:schemeClr>
                </a:solidFill>
                <a:latin typeface="+mn-lt"/>
                <a:ea typeface="+mn-ea"/>
                <a:cs typeface="+mn-cs"/>
              </a:rPr>
              <a:t>United Institute of Technology</a:t>
            </a:r>
          </a:p>
        </p:txBody>
      </p:sp>
      <p:sp>
        <p:nvSpPr>
          <p:cNvPr id="4" name="Slide Number Placeholder 3">
            <a:extLst>
              <a:ext uri="{FF2B5EF4-FFF2-40B4-BE49-F238E27FC236}">
                <a16:creationId xmlns:a16="http://schemas.microsoft.com/office/drawing/2014/main" id="{2214763B-ADB5-F38B-512C-EDE536B0DB43}"/>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pPr>
            <a:fld id="{B6F15528-21DE-4FAA-801E-634DDDAF4B2B}" type="slidenum">
              <a:rPr lang="en-US" sz="1200" smtClean="0">
                <a:solidFill>
                  <a:schemeClr val="tx1">
                    <a:tint val="75000"/>
                  </a:schemeClr>
                </a:solidFill>
              </a:rPr>
              <a:pPr>
                <a:spcAft>
                  <a:spcPts val="600"/>
                </a:spcAft>
              </a:pPr>
              <a:t>11</a:t>
            </a:fld>
            <a:endParaRPr lang="en-US" sz="1200">
              <a:solidFill>
                <a:schemeClr val="tx1">
                  <a:tint val="75000"/>
                </a:schemeClr>
              </a:solidFill>
            </a:endParaRPr>
          </a:p>
        </p:txBody>
      </p:sp>
      <p:pic>
        <p:nvPicPr>
          <p:cNvPr id="5" name="Picture 4" descr="aktu logo.jpg">
            <a:extLst>
              <a:ext uri="{FF2B5EF4-FFF2-40B4-BE49-F238E27FC236}">
                <a16:creationId xmlns:a16="http://schemas.microsoft.com/office/drawing/2014/main" id="{39912134-4CF6-E150-A4A4-753A86BF276D}"/>
              </a:ext>
            </a:extLst>
          </p:cNvPr>
          <p:cNvPicPr>
            <a:picLocks noChangeAspect="1"/>
          </p:cNvPicPr>
          <p:nvPr/>
        </p:nvPicPr>
        <p:blipFill>
          <a:blip r:embed="rId3"/>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01248D2C-ED82-CF6E-6DDD-5F86FE300A95}"/>
              </a:ext>
            </a:extLst>
          </p:cNvPr>
          <p:cNvPicPr>
            <a:picLocks noChangeAspect="1"/>
          </p:cNvPicPr>
          <p:nvPr/>
        </p:nvPicPr>
        <p:blipFill>
          <a:blip r:embed="rId4"/>
          <a:stretch>
            <a:fillRect/>
          </a:stretch>
        </p:blipFill>
        <p:spPr>
          <a:xfrm>
            <a:off x="7315200" y="0"/>
            <a:ext cx="1628723" cy="1219200"/>
          </a:xfrm>
          <a:prstGeom prst="rect">
            <a:avLst/>
          </a:prstGeom>
        </p:spPr>
      </p:pic>
      <p:sp>
        <p:nvSpPr>
          <p:cNvPr id="11" name="TextBox 10">
            <a:extLst>
              <a:ext uri="{FF2B5EF4-FFF2-40B4-BE49-F238E27FC236}">
                <a16:creationId xmlns:a16="http://schemas.microsoft.com/office/drawing/2014/main" id="{E0AB152F-2B37-C025-E39A-C6F188D9CA8A}"/>
              </a:ext>
            </a:extLst>
          </p:cNvPr>
          <p:cNvSpPr txBox="1"/>
          <p:nvPr/>
        </p:nvSpPr>
        <p:spPr>
          <a:xfrm>
            <a:off x="1219200" y="2232096"/>
            <a:ext cx="1704930" cy="369332"/>
          </a:xfrm>
          <a:prstGeom prst="rect">
            <a:avLst/>
          </a:prstGeom>
          <a:noFill/>
        </p:spPr>
        <p:txBody>
          <a:bodyPr wrap="square">
            <a:spAutoFit/>
          </a:bodyPr>
          <a:lstStyle/>
          <a:p>
            <a:r>
              <a:rPr lang="en-US" altLang="en-US" sz="1800" b="1" kern="1200" dirty="0">
                <a:solidFill>
                  <a:schemeClr val="tx1"/>
                </a:solidFill>
                <a:latin typeface="+mj-lt"/>
                <a:ea typeface="+mj-ea"/>
                <a:cs typeface="+mj-cs"/>
              </a:rPr>
              <a:t>Arduino Uno</a:t>
            </a:r>
            <a:endParaRPr lang="en-US" dirty="0"/>
          </a:p>
        </p:txBody>
      </p:sp>
    </p:spTree>
    <p:extLst>
      <p:ext uri="{BB962C8B-B14F-4D97-AF65-F5344CB8AC3E}">
        <p14:creationId xmlns:p14="http://schemas.microsoft.com/office/powerpoint/2010/main" val="3622280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E86E31-36F4-AFD4-8349-A866464FD5B3}"/>
            </a:ext>
          </a:extLst>
        </p:cNvPr>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7" name="Freeform: Shape 66">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656480"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9" name="Freeform: Shape 68">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2493"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Rectangle 1">
            <a:extLst>
              <a:ext uri="{FF2B5EF4-FFF2-40B4-BE49-F238E27FC236}">
                <a16:creationId xmlns:a16="http://schemas.microsoft.com/office/drawing/2014/main" id="{71439ADD-1086-FD95-9F50-D33FC31204BA}"/>
              </a:ext>
            </a:extLst>
          </p:cNvPr>
          <p:cNvSpPr>
            <a:spLocks noGrp="1" noChangeArrowheads="1"/>
          </p:cNvSpPr>
          <p:nvPr>
            <p:ph type="title"/>
          </p:nvPr>
        </p:nvSpPr>
        <p:spPr bwMode="auto">
          <a:xfrm>
            <a:off x="1138611" y="2223179"/>
            <a:ext cx="3764306" cy="32041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285750" marR="0" lvl="0" indent="-285750" defTabSz="914400" fontAlgn="base">
              <a:spcAft>
                <a:spcPct val="0"/>
              </a:spcAft>
              <a:buClrTx/>
              <a:buSzTx/>
              <a:tabLst/>
            </a:pPr>
            <a:br>
              <a:rPr kumimoji="0" lang="en-US" altLang="en-US" sz="1900" b="0" i="0" u="none" strike="noStrike" cap="none" normalizeH="0" baseline="0" dirty="0">
                <a:ln>
                  <a:noFill/>
                </a:ln>
                <a:effectLst/>
              </a:rPr>
            </a:br>
            <a:endParaRPr kumimoji="0" lang="en-US" altLang="en-US" sz="19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16x2 I2C LCD Display:</a:t>
            </a:r>
            <a:b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Function:</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Displays system status and messages</a:t>
            </a:r>
            <a:r>
              <a:rPr kumimoji="0" lang="en-US" altLang="en-US" sz="1600" b="0" i="0" u="none" strike="noStrike" cap="none" normalizeH="0" baseline="0" dirty="0">
                <a:ln>
                  <a:noFill/>
                </a:ln>
                <a:effectLst/>
              </a:rPr>
              <a:t>.</a:t>
            </a:r>
          </a:p>
          <a:p>
            <a:pPr marL="0" marR="0" lvl="0" indent="0" defTabSz="914400" fontAlgn="base">
              <a:spcAft>
                <a:spcPct val="0"/>
              </a:spcAft>
              <a:buClrTx/>
              <a:buSzTx/>
              <a:tabLst/>
            </a:pPr>
            <a:endParaRPr kumimoji="0" lang="en-US" altLang="en-US" sz="1900" b="0" i="0" u="none" strike="noStrike" cap="none" normalizeH="0" baseline="0" dirty="0">
              <a:ln>
                <a:noFill/>
              </a:ln>
              <a:effectLst/>
            </a:endParaRPr>
          </a:p>
        </p:txBody>
      </p:sp>
      <p:sp>
        <p:nvSpPr>
          <p:cNvPr id="7" name="TextBox 6">
            <a:extLst>
              <a:ext uri="{FF2B5EF4-FFF2-40B4-BE49-F238E27FC236}">
                <a16:creationId xmlns:a16="http://schemas.microsoft.com/office/drawing/2014/main" id="{A2B5A9E6-C34B-9EA4-5FD0-138E63140EEF}"/>
              </a:ext>
            </a:extLst>
          </p:cNvPr>
          <p:cNvSpPr txBox="1"/>
          <p:nvPr/>
        </p:nvSpPr>
        <p:spPr>
          <a:xfrm>
            <a:off x="2926997" y="442551"/>
            <a:ext cx="3760273" cy="1208141"/>
          </a:xfrm>
          <a:prstGeom prst="rect">
            <a:avLst/>
          </a:prstGeom>
        </p:spPr>
        <p:txBody>
          <a:bodyPr vert="horz" lIns="91440" tIns="45720" rIns="91440" bIns="45720" rtlCol="0">
            <a:normAutofit/>
          </a:bodyPr>
          <a:lstStyle/>
          <a:p>
            <a:pPr>
              <a:lnSpc>
                <a:spcPct val="90000"/>
              </a:lnSpc>
              <a:spcBef>
                <a:spcPts val="1000"/>
              </a:spcBef>
            </a:pPr>
            <a:r>
              <a:rPr lang="en-US" sz="2400" b="1" i="1" u="sng" dirty="0"/>
              <a:t>Components</a:t>
            </a:r>
          </a:p>
        </p:txBody>
      </p:sp>
      <p:sp>
        <p:nvSpPr>
          <p:cNvPr id="71" name="Rectangle 7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7704"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9" name="Picture 2" descr="Buy SIM900A GSM GPRS Module with RS232 Interface and SMA Antenna Online in  India | Robocraze">
            <a:extLst>
              <a:ext uri="{FF2B5EF4-FFF2-40B4-BE49-F238E27FC236}">
                <a16:creationId xmlns:a16="http://schemas.microsoft.com/office/drawing/2014/main" id="{88B22557-5F7F-3437-45DB-79EBAAF8313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74041" y="623686"/>
            <a:ext cx="3630348" cy="3038467"/>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23" y="4546920"/>
            <a:ext cx="376430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4" descr="How to Use LCD Display 16x4 I2C: Pinouts, Specs, and Examples | Cirkit  Designer">
            <a:extLst>
              <a:ext uri="{FF2B5EF4-FFF2-40B4-BE49-F238E27FC236}">
                <a16:creationId xmlns:a16="http://schemas.microsoft.com/office/drawing/2014/main" id="{7A582D2C-C3FF-8779-565D-87199F25065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45553" y="3825246"/>
            <a:ext cx="3531625" cy="2193325"/>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9AF1909C-1159-D0DB-8AB1-FDB235594D90}"/>
              </a:ext>
            </a:extLst>
          </p:cNvPr>
          <p:cNvSpPr>
            <a:spLocks noGrp="1"/>
          </p:cNvSpPr>
          <p:nvPr>
            <p:ph type="dt" sz="half" idx="10"/>
          </p:nvPr>
        </p:nvSpPr>
        <p:spPr>
          <a:xfrm>
            <a:off x="366822" y="6356350"/>
            <a:ext cx="1017816" cy="365125"/>
          </a:xfrm>
        </p:spPr>
        <p:txBody>
          <a:bodyPr vert="horz" lIns="91440" tIns="45720" rIns="91440" bIns="45720" rtlCol="0" anchor="ctr">
            <a:normAutofit/>
          </a:bodyPr>
          <a:lstStyle/>
          <a:p>
            <a:pPr>
              <a:spcAft>
                <a:spcPts val="600"/>
              </a:spcAft>
            </a:pPr>
            <a:fld id="{D26B0C30-6035-4D4C-B956-87E1D61995D0}" type="datetime1">
              <a:rPr lang="en-US" sz="1000">
                <a:solidFill>
                  <a:schemeClr val="tx1">
                    <a:lumMod val="50000"/>
                    <a:lumOff val="50000"/>
                  </a:schemeClr>
                </a:solidFill>
              </a:rPr>
              <a:pPr>
                <a:spcAft>
                  <a:spcPts val="600"/>
                </a:spcAft>
              </a:pPr>
              <a:t>11/5/2025</a:t>
            </a:fld>
            <a:endParaRPr lang="en-US" sz="100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F5A3546A-9536-FB04-A16E-B3C55E6A5FA5}"/>
              </a:ext>
            </a:extLst>
          </p:cNvPr>
          <p:cNvSpPr>
            <a:spLocks noGrp="1"/>
          </p:cNvSpPr>
          <p:nvPr>
            <p:ph type="ftr" sz="quarter" idx="11"/>
          </p:nvPr>
        </p:nvSpPr>
        <p:spPr>
          <a:xfrm>
            <a:off x="1571625" y="6356350"/>
            <a:ext cx="2559241" cy="365125"/>
          </a:xfrm>
        </p:spPr>
        <p:txBody>
          <a:bodyPr vert="horz" lIns="91440" tIns="45720" rIns="91440" bIns="45720" rtlCol="0" anchor="ctr">
            <a:normAutofit/>
          </a:bodyPr>
          <a:lstStyle/>
          <a:p>
            <a:pPr algn="r">
              <a:spcAft>
                <a:spcPts val="600"/>
              </a:spcAft>
            </a:pPr>
            <a:r>
              <a:rPr lang="en-US" sz="1000" kern="1200">
                <a:solidFill>
                  <a:schemeClr val="tx1">
                    <a:lumMod val="50000"/>
                    <a:lumOff val="50000"/>
                  </a:schemeClr>
                </a:solidFill>
                <a:latin typeface="+mn-lt"/>
                <a:ea typeface="+mn-ea"/>
                <a:cs typeface="+mn-cs"/>
              </a:rPr>
              <a:t>United Institute of Technology</a:t>
            </a:r>
          </a:p>
        </p:txBody>
      </p:sp>
      <p:sp>
        <p:nvSpPr>
          <p:cNvPr id="4" name="Slide Number Placeholder 3">
            <a:extLst>
              <a:ext uri="{FF2B5EF4-FFF2-40B4-BE49-F238E27FC236}">
                <a16:creationId xmlns:a16="http://schemas.microsoft.com/office/drawing/2014/main" id="{081B9BB4-9E58-69DF-EA5B-F47C70FD2C6A}"/>
              </a:ext>
            </a:extLst>
          </p:cNvPr>
          <p:cNvSpPr>
            <a:spLocks noGrp="1"/>
          </p:cNvSpPr>
          <p:nvPr>
            <p:ph type="sldNum" sz="quarter" idx="12"/>
          </p:nvPr>
        </p:nvSpPr>
        <p:spPr>
          <a:xfrm>
            <a:off x="7874737" y="6356350"/>
            <a:ext cx="902440" cy="365125"/>
          </a:xfrm>
        </p:spPr>
        <p:txBody>
          <a:bodyPr vert="horz" lIns="91440" tIns="45720" rIns="91440" bIns="45720" rtlCol="0" anchor="ctr">
            <a:normAutofit/>
          </a:bodyPr>
          <a:lstStyle/>
          <a:p>
            <a:pPr>
              <a:spcAft>
                <a:spcPts val="600"/>
              </a:spcAft>
            </a:pPr>
            <a:fld id="{B6F15528-21DE-4FAA-801E-634DDDAF4B2B}" type="slidenum">
              <a:rPr lang="en-US" sz="1000">
                <a:solidFill>
                  <a:schemeClr val="tx1">
                    <a:lumMod val="50000"/>
                    <a:lumOff val="50000"/>
                  </a:schemeClr>
                </a:solidFill>
              </a:rPr>
              <a:pPr>
                <a:spcAft>
                  <a:spcPts val="600"/>
                </a:spcAft>
              </a:pPr>
              <a:t>12</a:t>
            </a:fld>
            <a:endParaRPr lang="en-US" sz="1000">
              <a:solidFill>
                <a:schemeClr val="tx1">
                  <a:lumMod val="50000"/>
                  <a:lumOff val="50000"/>
                </a:schemeClr>
              </a:solidFill>
            </a:endParaRPr>
          </a:p>
        </p:txBody>
      </p:sp>
      <p:pic>
        <p:nvPicPr>
          <p:cNvPr id="5" name="Picture 4" descr="aktu logo.jpg">
            <a:extLst>
              <a:ext uri="{FF2B5EF4-FFF2-40B4-BE49-F238E27FC236}">
                <a16:creationId xmlns:a16="http://schemas.microsoft.com/office/drawing/2014/main" id="{6119DD53-13DF-F673-5884-ADE7619B30A5}"/>
              </a:ext>
            </a:extLst>
          </p:cNvPr>
          <p:cNvPicPr>
            <a:picLocks noChangeAspect="1"/>
          </p:cNvPicPr>
          <p:nvPr/>
        </p:nvPicPr>
        <p:blipFill>
          <a:blip r:embed="rId4"/>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3D039625-E38D-FBF4-1602-A3C6A0A9B111}"/>
              </a:ext>
            </a:extLst>
          </p:cNvPr>
          <p:cNvPicPr>
            <a:picLocks noChangeAspect="1"/>
          </p:cNvPicPr>
          <p:nvPr/>
        </p:nvPicPr>
        <p:blipFill>
          <a:blip r:embed="rId5"/>
          <a:stretch>
            <a:fillRect/>
          </a:stretch>
        </p:blipFill>
        <p:spPr>
          <a:xfrm>
            <a:off x="7315200" y="0"/>
            <a:ext cx="1628723" cy="1219200"/>
          </a:xfrm>
          <a:prstGeom prst="rect">
            <a:avLst/>
          </a:prstGeom>
        </p:spPr>
      </p:pic>
      <p:sp>
        <p:nvSpPr>
          <p:cNvPr id="12" name="TextBox 11">
            <a:extLst>
              <a:ext uri="{FF2B5EF4-FFF2-40B4-BE49-F238E27FC236}">
                <a16:creationId xmlns:a16="http://schemas.microsoft.com/office/drawing/2014/main" id="{E4E1B224-B37E-3B0E-50A3-BBA945FB2B2C}"/>
              </a:ext>
            </a:extLst>
          </p:cNvPr>
          <p:cNvSpPr txBox="1"/>
          <p:nvPr/>
        </p:nvSpPr>
        <p:spPr>
          <a:xfrm>
            <a:off x="1024940" y="1572770"/>
            <a:ext cx="4599708" cy="1323439"/>
          </a:xfrm>
          <a:prstGeom prst="rect">
            <a:avLst/>
          </a:prstGeom>
          <a:noFill/>
        </p:spPr>
        <p:txBody>
          <a:bodyPr wrap="square">
            <a:spAutoFit/>
          </a:bodyPr>
          <a:lstStyle/>
          <a:p>
            <a:pPr marL="285750" marR="0" lvl="0" indent="-285750" defTabSz="914400" fontAlgn="base">
              <a:spcAft>
                <a:spcPct val="0"/>
              </a:spcAft>
              <a:buClrTx/>
              <a:buSzTx/>
              <a:tabLst/>
            </a:pP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Communication Modules</a:t>
            </a:r>
            <a:b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SIM900A GSM Module:</a:t>
            </a:r>
            <a:br>
              <a:rPr lang="en-US" altLang="en-US" sz="1600" b="1" dirty="0">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defTabSz="914400" fontAlgn="base">
              <a:spcAft>
                <a:spcPct val="0"/>
              </a:spcAft>
              <a:buClrTx/>
              <a:buSzTx/>
              <a:tabLst/>
            </a:pPr>
            <a:r>
              <a:rPr kumimoji="0" lang="en-US" altLang="en-US" sz="1600" b="1" i="0" u="none" strike="noStrike" cap="none" normalizeH="0" baseline="0" dirty="0">
                <a:ln>
                  <a:noFill/>
                </a:ln>
                <a:effectLst/>
                <a:latin typeface="Times New Roman" panose="02020603050405020304" pitchFamily="18" charset="0"/>
                <a:cs typeface="Times New Roman" panose="02020603050405020304" pitchFamily="18" charset="0"/>
              </a:rPr>
              <a:t>Function:</a:t>
            </a: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 Sends SMS messages </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168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A6B0A8-2166-913F-75AD-6E4B726BB2A5}"/>
            </a:ext>
          </a:extLst>
        </p:cNvPr>
        <p:cNvGrpSpPr/>
        <p:nvPr/>
      </p:nvGrpSpPr>
      <p:grpSpPr>
        <a:xfrm>
          <a:off x="0" y="0"/>
          <a:ext cx="0" cy="0"/>
          <a:chOff x="0" y="0"/>
          <a:chExt cx="0" cy="0"/>
        </a:xfrm>
      </p:grpSpPr>
      <p:sp useBgFill="1">
        <p:nvSpPr>
          <p:cNvPr id="2079" name="Rectangle 2078">
            <a:extLst>
              <a:ext uri="{FF2B5EF4-FFF2-40B4-BE49-F238E27FC236}">
                <a16:creationId xmlns:a16="http://schemas.microsoft.com/office/drawing/2014/main" id="{FC3D2873-2194-4FB0-BFBA-7E7EEB984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Small Piezoelectric Buzzer - 5V Passive Buzzer">
            <a:extLst>
              <a:ext uri="{FF2B5EF4-FFF2-40B4-BE49-F238E27FC236}">
                <a16:creationId xmlns:a16="http://schemas.microsoft.com/office/drawing/2014/main" id="{71B3AC05-B34C-A365-26AC-49A27807A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121" r="15583" b="2"/>
          <a:stretch>
            <a:fillRect/>
          </a:stretch>
        </p:blipFill>
        <p:spPr bwMode="auto">
          <a:xfrm>
            <a:off x="7065563" y="1517843"/>
            <a:ext cx="1824336" cy="2259032"/>
          </a:xfrm>
          <a:custGeom>
            <a:avLst/>
            <a:gdLst/>
            <a:ahLst/>
            <a:cxnLst/>
            <a:rect l="l" t="t" r="r" b="b"/>
            <a:pathLst>
              <a:path w="3662680" h="3401568">
                <a:moveTo>
                  <a:pt x="0" y="0"/>
                </a:moveTo>
                <a:lnTo>
                  <a:pt x="3662680" y="0"/>
                </a:lnTo>
                <a:lnTo>
                  <a:pt x="3662680" y="3401568"/>
                </a:lnTo>
                <a:lnTo>
                  <a:pt x="774527" y="3401568"/>
                </a:lnTo>
                <a:lnTo>
                  <a:pt x="769892" y="3133175"/>
                </a:lnTo>
                <a:cubicBezTo>
                  <a:pt x="732577" y="2055441"/>
                  <a:pt x="492520" y="1056020"/>
                  <a:pt x="104445" y="215033"/>
                </a:cubicBezTo>
                <a:close/>
              </a:path>
            </a:pathLst>
          </a:custGeom>
          <a:noFill/>
          <a:extLst>
            <a:ext uri="{909E8E84-426E-40DD-AFC4-6F175D3DCCD1}">
              <a14:hiddenFill xmlns:a14="http://schemas.microsoft.com/office/drawing/2010/main">
                <a:solidFill>
                  <a:srgbClr val="FFFFFF"/>
                </a:solidFill>
              </a14:hiddenFill>
            </a:ext>
          </a:extLst>
        </p:spPr>
      </p:pic>
      <p:pic>
        <p:nvPicPr>
          <p:cNvPr id="2060" name="Picture 12" descr="L298N Motor Driver Module">
            <a:extLst>
              <a:ext uri="{FF2B5EF4-FFF2-40B4-BE49-F238E27FC236}">
                <a16:creationId xmlns:a16="http://schemas.microsoft.com/office/drawing/2014/main" id="{661BC24E-9A72-305E-CB2C-CD9D10CC9E4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9201" r="1" b="1"/>
          <a:stretch>
            <a:fillRect/>
          </a:stretch>
        </p:blipFill>
        <p:spPr bwMode="auto">
          <a:xfrm>
            <a:off x="3918799" y="54874"/>
            <a:ext cx="3088583" cy="3401558"/>
          </a:xfrm>
          <a:custGeom>
            <a:avLst/>
            <a:gdLst/>
            <a:ahLst/>
            <a:cxnLst/>
            <a:rect l="l" t="t" r="r" b="b"/>
            <a:pathLst>
              <a:path w="4118110" h="3401568">
                <a:moveTo>
                  <a:pt x="0" y="0"/>
                </a:moveTo>
                <a:lnTo>
                  <a:pt x="3343575" y="0"/>
                </a:lnTo>
                <a:lnTo>
                  <a:pt x="3448028" y="215050"/>
                </a:lnTo>
                <a:cubicBezTo>
                  <a:pt x="3836103" y="1056037"/>
                  <a:pt x="4076161" y="2055458"/>
                  <a:pt x="4113475" y="3133192"/>
                </a:cubicBezTo>
                <a:lnTo>
                  <a:pt x="4118110" y="3401568"/>
                </a:lnTo>
                <a:lnTo>
                  <a:pt x="801224" y="3401568"/>
                </a:lnTo>
                <a:lnTo>
                  <a:pt x="797493" y="3185579"/>
                </a:lnTo>
                <a:cubicBezTo>
                  <a:pt x="756786" y="2009870"/>
                  <a:pt x="474799" y="927359"/>
                  <a:pt x="22579" y="42066"/>
                </a:cubicBezTo>
                <a:close/>
              </a:path>
            </a:pathLst>
          </a:custGeom>
          <a:noFill/>
          <a:extLst>
            <a:ext uri="{909E8E84-426E-40DD-AFC4-6F175D3DCCD1}">
              <a14:hiddenFill xmlns:a14="http://schemas.microsoft.com/office/drawing/2010/main">
                <a:solidFill>
                  <a:srgbClr val="FFFFFF"/>
                </a:solidFill>
              </a14:hiddenFill>
            </a:ext>
          </a:extLst>
        </p:spPr>
      </p:pic>
      <p:pic>
        <p:nvPicPr>
          <p:cNvPr id="10" name="Picture 8" descr="How to use a relay module | Creative Technology Lab Wiki">
            <a:extLst>
              <a:ext uri="{FF2B5EF4-FFF2-40B4-BE49-F238E27FC236}">
                <a16:creationId xmlns:a16="http://schemas.microsoft.com/office/drawing/2014/main" id="{D62F036E-2501-C251-EBA8-B8CD672C86D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17474" r="-3" b="17951"/>
          <a:stretch>
            <a:fillRect/>
          </a:stretch>
        </p:blipFill>
        <p:spPr bwMode="auto">
          <a:xfrm>
            <a:off x="3876264" y="3456432"/>
            <a:ext cx="5267735" cy="3401568"/>
          </a:xfrm>
          <a:custGeom>
            <a:avLst/>
            <a:gdLst/>
            <a:ahLst/>
            <a:cxnLst/>
            <a:rect l="l" t="t" r="r" b="b"/>
            <a:pathLst>
              <a:path w="7023646" h="3401568">
                <a:moveTo>
                  <a:pt x="749132" y="0"/>
                </a:moveTo>
                <a:lnTo>
                  <a:pt x="7023646" y="0"/>
                </a:lnTo>
                <a:lnTo>
                  <a:pt x="7023646" y="3401568"/>
                </a:lnTo>
                <a:lnTo>
                  <a:pt x="0" y="3401568"/>
                </a:lnTo>
                <a:lnTo>
                  <a:pt x="79008" y="3238906"/>
                </a:lnTo>
                <a:cubicBezTo>
                  <a:pt x="502362" y="2321466"/>
                  <a:pt x="749563" y="1215476"/>
                  <a:pt x="749563" y="24956"/>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2080" name="Freeform: Shape 2079">
            <a:extLst>
              <a:ext uri="{FF2B5EF4-FFF2-40B4-BE49-F238E27FC236}">
                <a16:creationId xmlns:a16="http://schemas.microsoft.com/office/drawing/2014/main" id="{B228652A-FD81-4A3C-B164-2012BF4EE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5957" cy="6858000"/>
          </a:xfrm>
          <a:custGeom>
            <a:avLst/>
            <a:gdLst>
              <a:gd name="connsiteX0" fmla="*/ 0 w 5927943"/>
              <a:gd name="connsiteY0" fmla="*/ 0 h 6858000"/>
              <a:gd name="connsiteX1" fmla="*/ 5129522 w 5927943"/>
              <a:gd name="connsiteY1" fmla="*/ 0 h 6858000"/>
              <a:gd name="connsiteX2" fmla="*/ 5289639 w 5927943"/>
              <a:gd name="connsiteY2" fmla="*/ 323150 h 6858000"/>
              <a:gd name="connsiteX3" fmla="*/ 5927943 w 5927943"/>
              <a:gd name="connsiteY3" fmla="*/ 3476847 h 6858000"/>
              <a:gd name="connsiteX4" fmla="*/ 5289639 w 5927943"/>
              <a:gd name="connsiteY4" fmla="*/ 6630545 h 6858000"/>
              <a:gd name="connsiteX5" fmla="*/ 5176937 w 5927943"/>
              <a:gd name="connsiteY5" fmla="*/ 6858000 h 6858000"/>
              <a:gd name="connsiteX6" fmla="*/ 0 w 592794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27943" h="6858000">
                <a:moveTo>
                  <a:pt x="0" y="0"/>
                </a:moveTo>
                <a:lnTo>
                  <a:pt x="5129522" y="0"/>
                </a:lnTo>
                <a:lnTo>
                  <a:pt x="5289639" y="323150"/>
                </a:lnTo>
                <a:cubicBezTo>
                  <a:pt x="5692631" y="1223391"/>
                  <a:pt x="5927943" y="2308646"/>
                  <a:pt x="5927943" y="3476847"/>
                </a:cubicBezTo>
                <a:cubicBezTo>
                  <a:pt x="5927943" y="4645048"/>
                  <a:pt x="5692631" y="5730304"/>
                  <a:pt x="5289639" y="6630545"/>
                </a:cubicBezTo>
                <a:lnTo>
                  <a:pt x="517693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081" name="Freeform: Shape 2080">
            <a:extLst>
              <a:ext uri="{FF2B5EF4-FFF2-40B4-BE49-F238E27FC236}">
                <a16:creationId xmlns:a16="http://schemas.microsoft.com/office/drawing/2014/main" id="{FE8F25D8-4980-4C67-9E0C-7BE94C9CB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37982" cy="6858000"/>
          </a:xfrm>
          <a:custGeom>
            <a:avLst/>
            <a:gdLst>
              <a:gd name="connsiteX0" fmla="*/ 0 w 5917310"/>
              <a:gd name="connsiteY0" fmla="*/ 0 h 6858000"/>
              <a:gd name="connsiteX1" fmla="*/ 5118889 w 5917310"/>
              <a:gd name="connsiteY1" fmla="*/ 0 h 6858000"/>
              <a:gd name="connsiteX2" fmla="*/ 5279006 w 5917310"/>
              <a:gd name="connsiteY2" fmla="*/ 323150 h 6858000"/>
              <a:gd name="connsiteX3" fmla="*/ 5917310 w 5917310"/>
              <a:gd name="connsiteY3" fmla="*/ 3476847 h 6858000"/>
              <a:gd name="connsiteX4" fmla="*/ 5279006 w 5917310"/>
              <a:gd name="connsiteY4" fmla="*/ 6630545 h 6858000"/>
              <a:gd name="connsiteX5" fmla="*/ 5166304 w 5917310"/>
              <a:gd name="connsiteY5" fmla="*/ 6858000 h 6858000"/>
              <a:gd name="connsiteX6" fmla="*/ 0 w 591731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7310" h="6858000">
                <a:moveTo>
                  <a:pt x="0" y="0"/>
                </a:moveTo>
                <a:lnTo>
                  <a:pt x="5118889" y="0"/>
                </a:lnTo>
                <a:lnTo>
                  <a:pt x="5279006" y="323150"/>
                </a:lnTo>
                <a:cubicBezTo>
                  <a:pt x="5681998" y="1223391"/>
                  <a:pt x="5917310" y="2308646"/>
                  <a:pt x="5917310" y="3476847"/>
                </a:cubicBezTo>
                <a:cubicBezTo>
                  <a:pt x="5917310" y="4645048"/>
                  <a:pt x="5681998" y="5730304"/>
                  <a:pt x="5279006" y="6630545"/>
                </a:cubicBezTo>
                <a:lnTo>
                  <a:pt x="5166304"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1">
            <a:extLst>
              <a:ext uri="{FF2B5EF4-FFF2-40B4-BE49-F238E27FC236}">
                <a16:creationId xmlns:a16="http://schemas.microsoft.com/office/drawing/2014/main" id="{1FDDB757-BE97-4E5C-AB38-30AE0A583DA1}"/>
              </a:ext>
            </a:extLst>
          </p:cNvPr>
          <p:cNvSpPr>
            <a:spLocks noGrp="1" noChangeArrowheads="1"/>
          </p:cNvSpPr>
          <p:nvPr>
            <p:ph type="title"/>
          </p:nvPr>
        </p:nvSpPr>
        <p:spPr bwMode="auto">
          <a:xfrm>
            <a:off x="284892" y="2470033"/>
            <a:ext cx="3765042" cy="26974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285750" marR="0" lvl="0" indent="-28575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Actuators &amp; Switches</a:t>
            </a:r>
            <a:br>
              <a:rPr kumimoji="0" lang="en-US" altLang="en-US" sz="1200" b="1" i="0" u="none" strike="noStrike" kern="1200" cap="none" normalizeH="0" baseline="0" dirty="0">
                <a:ln>
                  <a:noFill/>
                </a:ln>
                <a:solidFill>
                  <a:schemeClr val="tx1"/>
                </a:solidFill>
                <a:effectLst/>
                <a:latin typeface="+mj-lt"/>
                <a:ea typeface="+mj-ea"/>
                <a:cs typeface="+mj-cs"/>
              </a:rPr>
            </a:br>
            <a:endParaRPr kumimoji="0" lang="en-US" altLang="en-US" sz="1200" b="1" i="0" u="none" strike="noStrike" kern="1200" cap="none" normalizeH="0" baseline="0" dirty="0">
              <a:ln>
                <a:noFill/>
              </a:ln>
              <a:solidFill>
                <a:schemeClr val="tx1"/>
              </a:solidFill>
              <a:effectLst/>
              <a:latin typeface="+mj-lt"/>
              <a:ea typeface="+mj-ea"/>
              <a:cs typeface="+mj-cs"/>
            </a:endParaRPr>
          </a:p>
          <a:p>
            <a:pPr marL="0" marR="0" lvl="0" indent="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L298N Motor Driver:</a:t>
            </a:r>
            <a:endParaRPr kumimoji="0" lang="en-US" altLang="en-US" sz="1200" b="0" i="0" u="none" strike="noStrike" kern="1200" cap="none" normalizeH="0" baseline="0" dirty="0">
              <a:ln>
                <a:noFill/>
              </a:ln>
              <a:solidFill>
                <a:schemeClr val="tx1"/>
              </a:solidFill>
              <a:effectLst/>
              <a:latin typeface="+mj-lt"/>
              <a:ea typeface="+mj-ea"/>
              <a:cs typeface="+mj-cs"/>
            </a:endParaRPr>
          </a:p>
          <a:p>
            <a:pPr marL="0" marR="0" lvl="0" indent="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Function:</a:t>
            </a:r>
            <a:r>
              <a:rPr kumimoji="0" lang="en-US" altLang="en-US" sz="1200" b="0" i="0" u="none" strike="noStrike" kern="1200" cap="none" normalizeH="0" baseline="0" dirty="0">
                <a:ln>
                  <a:noFill/>
                </a:ln>
                <a:solidFill>
                  <a:schemeClr val="tx1"/>
                </a:solidFill>
                <a:effectLst/>
                <a:latin typeface="+mj-lt"/>
                <a:ea typeface="+mj-ea"/>
                <a:cs typeface="+mj-cs"/>
              </a:rPr>
              <a:t> Controls direction and speed of two DC motors..</a:t>
            </a:r>
            <a:br>
              <a:rPr kumimoji="0" lang="en-US" altLang="en-US" sz="1200" b="0"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marL="285750" marR="0" lvl="0" indent="-28575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5V Relay Module:</a:t>
            </a:r>
            <a:br>
              <a:rPr kumimoji="0" lang="en-US" altLang="en-US" sz="1200" b="1"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marL="0" marR="0" lvl="0" indent="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Type:</a:t>
            </a:r>
            <a:r>
              <a:rPr kumimoji="0" lang="en-US" altLang="en-US" sz="1200" b="0" i="0" u="none" strike="noStrike" kern="1200" cap="none" normalizeH="0" baseline="0" dirty="0">
                <a:ln>
                  <a:noFill/>
                </a:ln>
                <a:solidFill>
                  <a:schemeClr val="tx1"/>
                </a:solidFill>
                <a:effectLst/>
                <a:latin typeface="+mj-lt"/>
                <a:ea typeface="+mj-ea"/>
                <a:cs typeface="+mj-cs"/>
              </a:rPr>
              <a:t> Electromechanical switch.</a:t>
            </a:r>
          </a:p>
          <a:p>
            <a:pPr marL="0" marR="0" lvl="0" indent="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Function:</a:t>
            </a:r>
            <a:r>
              <a:rPr kumimoji="0" lang="en-US" altLang="en-US" sz="1200" b="0" i="0" u="none" strike="noStrike" kern="1200" cap="none" normalizeH="0" baseline="0" dirty="0">
                <a:ln>
                  <a:noFill/>
                </a:ln>
                <a:solidFill>
                  <a:schemeClr val="tx1"/>
                </a:solidFill>
                <a:effectLst/>
                <a:latin typeface="+mj-lt"/>
                <a:ea typeface="+mj-ea"/>
                <a:cs typeface="+mj-cs"/>
              </a:rPr>
              <a:t> Can control high-power devices</a:t>
            </a:r>
          </a:p>
          <a:p>
            <a:pPr marL="0" marR="0" lvl="0" indent="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Wiring:</a:t>
            </a:r>
            <a:r>
              <a:rPr kumimoji="0" lang="en-US" altLang="en-US" sz="1200" b="0" i="0" u="none" strike="noStrike" kern="1200" cap="none" normalizeH="0" baseline="0" dirty="0">
                <a:ln>
                  <a:noFill/>
                </a:ln>
                <a:solidFill>
                  <a:schemeClr val="tx1"/>
                </a:solidFill>
                <a:effectLst/>
                <a:latin typeface="+mj-lt"/>
                <a:ea typeface="+mj-ea"/>
                <a:cs typeface="+mj-cs"/>
              </a:rPr>
              <a:t> Control pin to Arduino D4.</a:t>
            </a:r>
            <a:br>
              <a:rPr kumimoji="0" lang="en-US" altLang="en-US" sz="1200" b="0"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a:p>
            <a:pPr marL="285750" marR="0" lvl="0" indent="-285750" defTabSz="914400" fontAlgn="base">
              <a:spcAft>
                <a:spcPct val="0"/>
              </a:spcAft>
              <a:buClrTx/>
              <a:buSzTx/>
              <a:tabLst/>
            </a:pPr>
            <a:r>
              <a:rPr kumimoji="0" lang="en-US" altLang="en-US" sz="1200" b="1" i="0" u="none" strike="noStrike" kern="1200" cap="none" normalizeH="0" baseline="0" dirty="0">
                <a:ln>
                  <a:noFill/>
                </a:ln>
                <a:solidFill>
                  <a:schemeClr val="tx1"/>
                </a:solidFill>
                <a:effectLst/>
                <a:latin typeface="+mj-lt"/>
                <a:ea typeface="+mj-ea"/>
                <a:cs typeface="+mj-cs"/>
              </a:rPr>
              <a:t>Buzzer:</a:t>
            </a:r>
            <a:br>
              <a:rPr kumimoji="0" lang="en-US" altLang="en-US" sz="1200" b="1" i="0" u="none" strike="noStrike" kern="1200" cap="none" normalizeH="0" baseline="0" dirty="0">
                <a:ln>
                  <a:noFill/>
                </a:ln>
                <a:solidFill>
                  <a:schemeClr val="tx1"/>
                </a:solidFill>
                <a:effectLst/>
                <a:latin typeface="+mj-lt"/>
                <a:ea typeface="+mj-ea"/>
                <a:cs typeface="+mj-cs"/>
              </a:rPr>
            </a:br>
            <a:endParaRPr kumimoji="0" lang="en-US" altLang="en-US" sz="1200" b="0" i="0" u="none" strike="noStrike" kern="1200" cap="none" normalizeH="0" baseline="0" dirty="0">
              <a:ln>
                <a:noFill/>
              </a:ln>
              <a:solidFill>
                <a:schemeClr val="tx1"/>
              </a:solidFill>
              <a:effectLst/>
              <a:latin typeface="+mj-lt"/>
              <a:ea typeface="+mj-ea"/>
              <a:cs typeface="+mj-cs"/>
            </a:endParaRPr>
          </a:p>
        </p:txBody>
      </p:sp>
      <p:sp>
        <p:nvSpPr>
          <p:cNvPr id="7" name="TextBox 6">
            <a:extLst>
              <a:ext uri="{FF2B5EF4-FFF2-40B4-BE49-F238E27FC236}">
                <a16:creationId xmlns:a16="http://schemas.microsoft.com/office/drawing/2014/main" id="{F14B2DD0-40B3-A3A9-9B50-A52FD78D68C6}"/>
              </a:ext>
            </a:extLst>
          </p:cNvPr>
          <p:cNvSpPr txBox="1"/>
          <p:nvPr/>
        </p:nvSpPr>
        <p:spPr>
          <a:xfrm>
            <a:off x="1919330" y="671449"/>
            <a:ext cx="3689604" cy="1335024"/>
          </a:xfrm>
          <a:prstGeom prst="rect">
            <a:avLst/>
          </a:prstGeom>
        </p:spPr>
        <p:txBody>
          <a:bodyPr vert="horz" lIns="91440" tIns="45720" rIns="91440" bIns="45720" rtlCol="0">
            <a:normAutofit/>
          </a:bodyPr>
          <a:lstStyle/>
          <a:p>
            <a:pPr>
              <a:lnSpc>
                <a:spcPct val="90000"/>
              </a:lnSpc>
              <a:spcBef>
                <a:spcPts val="1000"/>
              </a:spcBef>
            </a:pPr>
            <a:r>
              <a:rPr lang="en-US" sz="2400" b="1" i="1" u="sng" kern="1200" dirty="0">
                <a:solidFill>
                  <a:schemeClr val="tx1"/>
                </a:solidFill>
                <a:latin typeface="+mn-lt"/>
                <a:ea typeface="+mn-ea"/>
                <a:cs typeface="+mn-cs"/>
              </a:rPr>
              <a:t>Components</a:t>
            </a:r>
          </a:p>
        </p:txBody>
      </p:sp>
      <p:sp>
        <p:nvSpPr>
          <p:cNvPr id="2082" name="Rectangle 2081">
            <a:extLst>
              <a:ext uri="{FF2B5EF4-FFF2-40B4-BE49-F238E27FC236}">
                <a16:creationId xmlns:a16="http://schemas.microsoft.com/office/drawing/2014/main" id="{1A214C69-1234-4E5D-91CD-BEA0020425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7704"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3" name="Rectangle 2082">
            <a:extLst>
              <a:ext uri="{FF2B5EF4-FFF2-40B4-BE49-F238E27FC236}">
                <a16:creationId xmlns:a16="http://schemas.microsoft.com/office/drawing/2014/main" id="{F86E49C8-40C0-4E80-BAC0-9A66298F1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23" y="4461119"/>
            <a:ext cx="376430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Date Placeholder 1">
            <a:extLst>
              <a:ext uri="{FF2B5EF4-FFF2-40B4-BE49-F238E27FC236}">
                <a16:creationId xmlns:a16="http://schemas.microsoft.com/office/drawing/2014/main" id="{F82531F5-F936-0B91-B277-D6D941898890}"/>
              </a:ext>
            </a:extLst>
          </p:cNvPr>
          <p:cNvSpPr>
            <a:spLocks noGrp="1"/>
          </p:cNvSpPr>
          <p:nvPr>
            <p:ph type="dt" sz="half" idx="10"/>
          </p:nvPr>
        </p:nvSpPr>
        <p:spPr>
          <a:xfrm>
            <a:off x="329184" y="6356350"/>
            <a:ext cx="2057400" cy="365125"/>
          </a:xfrm>
        </p:spPr>
        <p:txBody>
          <a:bodyPr vert="horz" lIns="91440" tIns="45720" rIns="91440" bIns="45720" rtlCol="0" anchor="ctr">
            <a:normAutofit/>
          </a:bodyPr>
          <a:lstStyle/>
          <a:p>
            <a:pPr>
              <a:spcAft>
                <a:spcPts val="600"/>
              </a:spcAft>
            </a:pPr>
            <a:fld id="{D26B0C30-6035-4D4C-B956-87E1D61995D0}" type="datetime1">
              <a:rPr lang="en-US" sz="1200">
                <a:solidFill>
                  <a:schemeClr val="tx1">
                    <a:lumMod val="50000"/>
                    <a:lumOff val="50000"/>
                  </a:schemeClr>
                </a:solidFill>
              </a:rPr>
              <a:pPr>
                <a:spcAft>
                  <a:spcPts val="600"/>
                </a:spcAft>
              </a:pPr>
              <a:t>11/5/2025</a:t>
            </a:fld>
            <a:endParaRPr lang="en-US" sz="120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B8CD92D2-9F1A-45C5-203E-B81F7AFBA80A}"/>
              </a:ext>
            </a:extLst>
          </p:cNvPr>
          <p:cNvSpPr>
            <a:spLocks noGrp="1"/>
          </p:cNvSpPr>
          <p:nvPr>
            <p:ph type="ftr" sz="quarter" idx="11"/>
          </p:nvPr>
        </p:nvSpPr>
        <p:spPr>
          <a:xfrm>
            <a:off x="4443412" y="6356350"/>
            <a:ext cx="3086100" cy="365125"/>
          </a:xfrm>
        </p:spPr>
        <p:txBody>
          <a:bodyPr vert="horz" lIns="91440" tIns="45720" rIns="91440" bIns="45720" rtlCol="0" anchor="ctr">
            <a:normAutofit/>
          </a:bodyPr>
          <a:lstStyle/>
          <a:p>
            <a:pPr algn="l">
              <a:spcAft>
                <a:spcPts val="600"/>
              </a:spcAft>
            </a:pPr>
            <a:r>
              <a:rPr lang="en-US" sz="1200" kern="1200">
                <a:solidFill>
                  <a:schemeClr val="bg1"/>
                </a:solidFill>
                <a:latin typeface="+mn-lt"/>
                <a:ea typeface="+mn-ea"/>
                <a:cs typeface="+mn-cs"/>
              </a:rPr>
              <a:t>United Institute of Technology</a:t>
            </a:r>
          </a:p>
        </p:txBody>
      </p:sp>
      <p:sp>
        <p:nvSpPr>
          <p:cNvPr id="4" name="Slide Number Placeholder 3">
            <a:extLst>
              <a:ext uri="{FF2B5EF4-FFF2-40B4-BE49-F238E27FC236}">
                <a16:creationId xmlns:a16="http://schemas.microsoft.com/office/drawing/2014/main" id="{CE3334B7-30F5-7E95-02B6-1A9307C2ABB9}"/>
              </a:ext>
            </a:extLst>
          </p:cNvPr>
          <p:cNvSpPr>
            <a:spLocks noGrp="1"/>
          </p:cNvSpPr>
          <p:nvPr>
            <p:ph type="sldNum" sz="quarter" idx="12"/>
          </p:nvPr>
        </p:nvSpPr>
        <p:spPr>
          <a:xfrm>
            <a:off x="7976616" y="6356350"/>
            <a:ext cx="838200" cy="365125"/>
          </a:xfrm>
        </p:spPr>
        <p:txBody>
          <a:bodyPr vert="horz" lIns="91440" tIns="45720" rIns="91440" bIns="45720" rtlCol="0" anchor="ctr">
            <a:normAutofit/>
          </a:bodyPr>
          <a:lstStyle/>
          <a:p>
            <a:pPr>
              <a:spcAft>
                <a:spcPts val="600"/>
              </a:spcAft>
            </a:pPr>
            <a:fld id="{B6F15528-21DE-4FAA-801E-634DDDAF4B2B}" type="slidenum">
              <a:rPr lang="en-US" sz="1200">
                <a:solidFill>
                  <a:schemeClr val="bg1"/>
                </a:solidFill>
              </a:rPr>
              <a:pPr>
                <a:spcAft>
                  <a:spcPts val="600"/>
                </a:spcAft>
              </a:pPr>
              <a:t>13</a:t>
            </a:fld>
            <a:endParaRPr lang="en-US" sz="1200">
              <a:solidFill>
                <a:schemeClr val="bg1"/>
              </a:solidFill>
            </a:endParaRPr>
          </a:p>
        </p:txBody>
      </p:sp>
      <p:pic>
        <p:nvPicPr>
          <p:cNvPr id="5" name="Picture 4" descr="aktu logo.jpg">
            <a:extLst>
              <a:ext uri="{FF2B5EF4-FFF2-40B4-BE49-F238E27FC236}">
                <a16:creationId xmlns:a16="http://schemas.microsoft.com/office/drawing/2014/main" id="{34EAA6BE-505F-A993-556F-2E49D8CDF33C}"/>
              </a:ext>
            </a:extLst>
          </p:cNvPr>
          <p:cNvPicPr>
            <a:picLocks noChangeAspect="1"/>
          </p:cNvPicPr>
          <p:nvPr/>
        </p:nvPicPr>
        <p:blipFill>
          <a:blip r:embed="rId5"/>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ECE2B2D5-F6C9-2E9D-9C03-98C4C7103578}"/>
              </a:ext>
            </a:extLst>
          </p:cNvPr>
          <p:cNvPicPr>
            <a:picLocks noChangeAspect="1"/>
          </p:cNvPicPr>
          <p:nvPr/>
        </p:nvPicPr>
        <p:blipFill>
          <a:blip r:embed="rId6"/>
          <a:stretch>
            <a:fillRect/>
          </a:stretch>
        </p:blipFill>
        <p:spPr>
          <a:xfrm>
            <a:off x="7315200" y="0"/>
            <a:ext cx="1628723" cy="1219200"/>
          </a:xfrm>
          <a:prstGeom prst="rect">
            <a:avLst/>
          </a:prstGeom>
        </p:spPr>
      </p:pic>
    </p:spTree>
    <p:extLst>
      <p:ext uri="{BB962C8B-B14F-4D97-AF65-F5344CB8AC3E}">
        <p14:creationId xmlns:p14="http://schemas.microsoft.com/office/powerpoint/2010/main" val="3060796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C573C-404E-8399-E557-5BA4ADF0069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5BD98C4-D4C1-B847-DB3F-0146F83B326E}"/>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363D8C90-7C99-CFA5-4367-BEEF6B7FBBE4}"/>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86512844-C641-67D7-E1BA-E619691766BE}"/>
              </a:ext>
            </a:extLst>
          </p:cNvPr>
          <p:cNvSpPr>
            <a:spLocks noGrp="1"/>
          </p:cNvSpPr>
          <p:nvPr>
            <p:ph type="sldNum" sz="quarter" idx="12"/>
          </p:nvPr>
        </p:nvSpPr>
        <p:spPr/>
        <p:txBody>
          <a:bodyPr/>
          <a:lstStyle/>
          <a:p>
            <a:fld id="{B6F15528-21DE-4FAA-801E-634DDDAF4B2B}" type="slidenum">
              <a:rPr lang="en-US" smtClean="0"/>
              <a:pPr/>
              <a:t>14</a:t>
            </a:fld>
            <a:endParaRPr lang="en-US"/>
          </a:p>
        </p:txBody>
      </p:sp>
      <p:pic>
        <p:nvPicPr>
          <p:cNvPr id="5" name="Picture 4" descr="aktu logo.jpg">
            <a:extLst>
              <a:ext uri="{FF2B5EF4-FFF2-40B4-BE49-F238E27FC236}">
                <a16:creationId xmlns:a16="http://schemas.microsoft.com/office/drawing/2014/main" id="{9D7D0F2B-6B6F-F525-D36E-F417D24ECC5A}"/>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326BCF47-47B9-8E31-5392-D9FC38EC6058}"/>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6C84D2D5-FFD7-CA01-0720-531755B7EE9E}"/>
              </a:ext>
            </a:extLst>
          </p:cNvPr>
          <p:cNvSpPr txBox="1"/>
          <p:nvPr/>
        </p:nvSpPr>
        <p:spPr>
          <a:xfrm>
            <a:off x="3200400" y="533400"/>
            <a:ext cx="3144451" cy="461665"/>
          </a:xfrm>
          <a:prstGeom prst="rect">
            <a:avLst/>
          </a:prstGeom>
          <a:noFill/>
        </p:spPr>
        <p:txBody>
          <a:bodyPr wrap="none" rtlCol="0">
            <a:spAutoFit/>
          </a:bodyPr>
          <a:lstStyle/>
          <a:p>
            <a:r>
              <a:rPr lang="en-IN" sz="2400" b="1" i="1" u="sng" dirty="0">
                <a:latin typeface="Arial Black" pitchFamily="34" charset="0"/>
              </a:rPr>
              <a:t>Working Principal</a:t>
            </a:r>
            <a:endParaRPr lang="en-US" b="1" i="1" u="sng" dirty="0">
              <a:latin typeface="Arial Black" pitchFamily="34" charset="0"/>
            </a:endParaRPr>
          </a:p>
        </p:txBody>
      </p:sp>
      <p:sp>
        <p:nvSpPr>
          <p:cNvPr id="8" name="Rectangle 1">
            <a:extLst>
              <a:ext uri="{FF2B5EF4-FFF2-40B4-BE49-F238E27FC236}">
                <a16:creationId xmlns:a16="http://schemas.microsoft.com/office/drawing/2014/main" id="{BDFDEEBF-ABD9-141A-36B7-82C8D465F436}"/>
              </a:ext>
            </a:extLst>
          </p:cNvPr>
          <p:cNvSpPr>
            <a:spLocks noGrp="1" noChangeArrowheads="1"/>
          </p:cNvSpPr>
          <p:nvPr>
            <p:ph type="title"/>
          </p:nvPr>
        </p:nvSpPr>
        <p:spPr bwMode="auto">
          <a:xfrm>
            <a:off x="838200" y="1505396"/>
            <a:ext cx="78867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1: System Initialization &amp; Calibration</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Up:</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Arduino boots, LCD displays "Initializing...".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Setup:</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 I/O pins, serial ports, and LCD are configured.</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ADXL335 Calibration:</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Ready State: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LCD displays "System Ready". System enters a waiting state.</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Activation: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waits for the startButtonPin to be pressed (LOW).</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Active: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Once pressed, LCD shows "Starting..." then "System Active".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498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47DC1-3F2F-8DDD-7299-CF0EE80580C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97B7B33-85BA-503E-21C8-1D97D65A33A7}"/>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184B4AF2-277F-12D1-22F4-0D13E749D8A8}"/>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A8265688-22AC-472C-19B9-217FB32DD017}"/>
              </a:ext>
            </a:extLst>
          </p:cNvPr>
          <p:cNvSpPr>
            <a:spLocks noGrp="1"/>
          </p:cNvSpPr>
          <p:nvPr>
            <p:ph type="sldNum" sz="quarter" idx="12"/>
          </p:nvPr>
        </p:nvSpPr>
        <p:spPr/>
        <p:txBody>
          <a:bodyPr/>
          <a:lstStyle/>
          <a:p>
            <a:fld id="{B6F15528-21DE-4FAA-801E-634DDDAF4B2B}" type="slidenum">
              <a:rPr lang="en-US" smtClean="0"/>
              <a:pPr/>
              <a:t>15</a:t>
            </a:fld>
            <a:endParaRPr lang="en-US"/>
          </a:p>
        </p:txBody>
      </p:sp>
      <p:pic>
        <p:nvPicPr>
          <p:cNvPr id="5" name="Picture 4" descr="aktu logo.jpg">
            <a:extLst>
              <a:ext uri="{FF2B5EF4-FFF2-40B4-BE49-F238E27FC236}">
                <a16:creationId xmlns:a16="http://schemas.microsoft.com/office/drawing/2014/main" id="{7CFF9FDE-0E6B-E9D8-8FB4-55D408D7AF86}"/>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A642079E-6F18-71C1-E668-8914FA93B686}"/>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468E0E4B-454A-3769-241A-BAFDB7C6AEF7}"/>
              </a:ext>
            </a:extLst>
          </p:cNvPr>
          <p:cNvSpPr txBox="1"/>
          <p:nvPr/>
        </p:nvSpPr>
        <p:spPr>
          <a:xfrm>
            <a:off x="3200400" y="533400"/>
            <a:ext cx="3144451" cy="461665"/>
          </a:xfrm>
          <a:prstGeom prst="rect">
            <a:avLst/>
          </a:prstGeom>
          <a:noFill/>
        </p:spPr>
        <p:txBody>
          <a:bodyPr wrap="none" rtlCol="0">
            <a:spAutoFit/>
          </a:bodyPr>
          <a:lstStyle/>
          <a:p>
            <a:r>
              <a:rPr lang="en-IN" sz="2400" b="1" i="1" u="sng" dirty="0">
                <a:latin typeface="Arial Black" pitchFamily="34" charset="0"/>
              </a:rPr>
              <a:t>Working Principal</a:t>
            </a:r>
            <a:endParaRPr lang="en-US" b="1" i="1" u="sng" dirty="0">
              <a:latin typeface="Arial Black" pitchFamily="34" charset="0"/>
            </a:endParaRPr>
          </a:p>
        </p:txBody>
      </p:sp>
      <p:sp>
        <p:nvSpPr>
          <p:cNvPr id="8" name="Rectangle 1">
            <a:extLst>
              <a:ext uri="{FF2B5EF4-FFF2-40B4-BE49-F238E27FC236}">
                <a16:creationId xmlns:a16="http://schemas.microsoft.com/office/drawing/2014/main" id="{F39D2C16-D00E-EF97-5958-48B47B0F3005}"/>
              </a:ext>
            </a:extLst>
          </p:cNvPr>
          <p:cNvSpPr>
            <a:spLocks noGrp="1" noChangeArrowheads="1"/>
          </p:cNvSpPr>
          <p:nvPr>
            <p:ph type="title"/>
          </p:nvPr>
        </p:nvSpPr>
        <p:spPr bwMode="auto">
          <a:xfrm>
            <a:off x="651978" y="1782395"/>
            <a:ext cx="83058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2: Normal Operation (Motors Running)</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Condition: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systemReadyToStart is true AND systemStopped is false.</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Motor Control:</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digitalWrite(IN1, HIGH); digitalWrite(IN2, LOW); (and IN3, IN4) for forward movement.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analogWrite(ENA, speed); analogWrite(ENB, speed); sets motor speed (e.g., 60).</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Status Display: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LCD shows "Motors Running".</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Monitoring: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continuously reads ADXL335 values and checks the switchPin.</a:t>
            </a:r>
          </a:p>
        </p:txBody>
      </p:sp>
    </p:spTree>
    <p:extLst>
      <p:ext uri="{BB962C8B-B14F-4D97-AF65-F5344CB8AC3E}">
        <p14:creationId xmlns:p14="http://schemas.microsoft.com/office/powerpoint/2010/main" val="3362510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4B993-8541-A50C-D471-490EFFA7662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EBD5ADD-C697-C81B-6AEA-54DC21D802D3}"/>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869BF0FB-8836-E874-5259-B1D9054D2AB3}"/>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180A21C2-F1BD-BB58-4B8A-AB67467776C5}"/>
              </a:ext>
            </a:extLst>
          </p:cNvPr>
          <p:cNvSpPr>
            <a:spLocks noGrp="1"/>
          </p:cNvSpPr>
          <p:nvPr>
            <p:ph type="sldNum" sz="quarter" idx="12"/>
          </p:nvPr>
        </p:nvSpPr>
        <p:spPr/>
        <p:txBody>
          <a:bodyPr/>
          <a:lstStyle/>
          <a:p>
            <a:fld id="{B6F15528-21DE-4FAA-801E-634DDDAF4B2B}" type="slidenum">
              <a:rPr lang="en-US" smtClean="0"/>
              <a:pPr/>
              <a:t>16</a:t>
            </a:fld>
            <a:endParaRPr lang="en-US"/>
          </a:p>
        </p:txBody>
      </p:sp>
      <p:pic>
        <p:nvPicPr>
          <p:cNvPr id="5" name="Picture 4" descr="aktu logo.jpg">
            <a:extLst>
              <a:ext uri="{FF2B5EF4-FFF2-40B4-BE49-F238E27FC236}">
                <a16:creationId xmlns:a16="http://schemas.microsoft.com/office/drawing/2014/main" id="{F7544493-AEA0-7741-5241-FA3FD02A48C7}"/>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8370D01A-7F59-DAA2-9E36-B4BA989AD926}"/>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E2D23F02-1EAF-D219-1C03-C6F7489D423B}"/>
              </a:ext>
            </a:extLst>
          </p:cNvPr>
          <p:cNvSpPr txBox="1"/>
          <p:nvPr/>
        </p:nvSpPr>
        <p:spPr>
          <a:xfrm>
            <a:off x="3200400" y="533400"/>
            <a:ext cx="3144451" cy="461665"/>
          </a:xfrm>
          <a:prstGeom prst="rect">
            <a:avLst/>
          </a:prstGeom>
          <a:noFill/>
        </p:spPr>
        <p:txBody>
          <a:bodyPr wrap="none" rtlCol="0">
            <a:spAutoFit/>
          </a:bodyPr>
          <a:lstStyle/>
          <a:p>
            <a:r>
              <a:rPr lang="en-IN" sz="2400" b="1" i="1" u="sng" dirty="0">
                <a:latin typeface="Arial Black" pitchFamily="34" charset="0"/>
              </a:rPr>
              <a:t>Working Principal</a:t>
            </a:r>
            <a:endParaRPr lang="en-US" b="1" i="1" u="sng" dirty="0">
              <a:latin typeface="Arial Black" pitchFamily="34" charset="0"/>
            </a:endParaRPr>
          </a:p>
        </p:txBody>
      </p:sp>
      <p:sp>
        <p:nvSpPr>
          <p:cNvPr id="10" name="Rectangle 2">
            <a:extLst>
              <a:ext uri="{FF2B5EF4-FFF2-40B4-BE49-F238E27FC236}">
                <a16:creationId xmlns:a16="http://schemas.microsoft.com/office/drawing/2014/main" id="{E56F3EDE-7D50-8833-821F-E20EB6E2F09C}"/>
              </a:ext>
            </a:extLst>
          </p:cNvPr>
          <p:cNvSpPr>
            <a:spLocks noGrp="1" noChangeArrowheads="1"/>
          </p:cNvSpPr>
          <p:nvPr>
            <p:ph type="title"/>
          </p:nvPr>
        </p:nvSpPr>
        <p:spPr bwMode="auto">
          <a:xfrm>
            <a:off x="885773" y="1953698"/>
            <a:ext cx="8058150" cy="344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a:latin typeface="Times New Roman" panose="02020603050405020304" pitchFamily="18" charset="0"/>
                <a:cs typeface="Times New Roman" panose="02020603050405020304" pitchFamily="18" charset="0"/>
              </a:rPr>
              <a:t>Step 3: Accident Detection &amp; Alert Trigger</a:t>
            </a:r>
            <a:br>
              <a:rPr lang="en-US" sz="1600" b="1" dirty="0">
                <a:latin typeface="Times New Roman" panose="02020603050405020304" pitchFamily="18" charset="0"/>
                <a:cs typeface="Times New Roman" panose="02020603050405020304" pitchFamily="18" charset="0"/>
              </a:rPr>
            </a:br>
            <a:br>
              <a:rPr lang="en-US" sz="16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Trigger Conditions (logical OR):</a:t>
            </a:r>
            <a:br>
              <a:rPr lang="en-US" sz="1600" b="1"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digitalRead(switchPin) == LOW (Manual Alert)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OR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xDeviation &gt; maxTiltThreshold OR yDeviation &gt; maxTiltThreshold OR zDeviation &gt; maxTiltThreshold (Automatic Tilt/Impact)</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Action:</a:t>
            </a:r>
            <a:r>
              <a:rPr lang="en-US" sz="1600" dirty="0">
                <a:latin typeface="Times New Roman" panose="02020603050405020304" pitchFamily="18" charset="0"/>
                <a:cs typeface="Times New Roman" panose="02020603050405020304" pitchFamily="18" charset="0"/>
              </a:rPr>
              <a:t> If either condition is met, the handleAccident() function is called.</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System State Change:</a:t>
            </a:r>
            <a:br>
              <a:rPr lang="en-US" sz="1600" b="1"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systemStopped = true; -&gt; Prevents motors from restarting and initiates live tracking.</a:t>
            </a:r>
            <a:br>
              <a:rPr lang="en-US" sz="1800" dirty="0"/>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092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568ED1-6387-552F-0219-34C53AB36EC3}"/>
            </a:ext>
          </a:extLst>
        </p:cNvPr>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9144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
            <a:extLst>
              <a:ext uri="{FF2B5EF4-FFF2-40B4-BE49-F238E27FC236}">
                <a16:creationId xmlns:a16="http://schemas.microsoft.com/office/drawing/2014/main" id="{88AB153B-F1BB-1B3F-0794-5B47C5DC4127}"/>
              </a:ext>
            </a:extLst>
          </p:cNvPr>
          <p:cNvSpPr>
            <a:spLocks noGrp="1" noChangeArrowheads="1"/>
          </p:cNvSpPr>
          <p:nvPr>
            <p:ph type="title"/>
          </p:nvPr>
        </p:nvSpPr>
        <p:spPr bwMode="auto">
          <a:xfrm>
            <a:off x="941295" y="5279511"/>
            <a:ext cx="7261411" cy="7398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fontScale="90000"/>
          </a:bodyPr>
          <a:lstStyle/>
          <a:p>
            <a:pPr marL="0" marR="0" lvl="0" indent="0" algn="ctr" defTabSz="914400" fontAlgn="base">
              <a:spcAft>
                <a:spcPct val="0"/>
              </a:spcAft>
              <a:buClrTx/>
              <a:buSzTx/>
              <a:tabLst/>
            </a:pPr>
            <a:r>
              <a:rPr kumimoji="0" lang="en-US" altLang="en-US" sz="800" b="1" i="0" u="none" strike="noStrike" cap="none" normalizeH="0" baseline="0" dirty="0">
                <a:ln>
                  <a:noFill/>
                </a:ln>
                <a:solidFill>
                  <a:schemeClr val="tx1">
                    <a:lumMod val="85000"/>
                    <a:lumOff val="15000"/>
                  </a:schemeClr>
                </a:solidFill>
                <a:effectLst/>
              </a:rPr>
              <a:t>Step 4: Emergency Response</a:t>
            </a:r>
            <a:br>
              <a:rPr kumimoji="0" lang="en-US" altLang="en-US" sz="800" b="1" i="0" u="none" strike="noStrike" cap="none" normalizeH="0" baseline="0" dirty="0">
                <a:ln>
                  <a:noFill/>
                </a:ln>
                <a:solidFill>
                  <a:schemeClr val="tx1">
                    <a:lumMod val="85000"/>
                    <a:lumOff val="15000"/>
                  </a:schemeClr>
                </a:solidFill>
                <a:effectLst/>
              </a:rPr>
            </a:br>
            <a:endParaRPr kumimoji="0" lang="en-US" altLang="en-US" sz="800" b="1" i="0" u="none" strike="noStrike" cap="none" normalizeH="0" baseline="0" dirty="0">
              <a:ln>
                <a:noFill/>
              </a:ln>
              <a:solidFill>
                <a:schemeClr val="tx1">
                  <a:lumMod val="85000"/>
                  <a:lumOff val="15000"/>
                </a:schemeClr>
              </a:solidFill>
              <a:effectLst/>
            </a:endParaRPr>
          </a:p>
          <a:p>
            <a:pPr marL="0" marR="0" lvl="0" indent="0" algn="ctr" defTabSz="914400" fontAlgn="base">
              <a:spcAft>
                <a:spcPct val="0"/>
              </a:spcAft>
              <a:buClrTx/>
              <a:buSzTx/>
              <a:tabLst/>
            </a:pPr>
            <a:r>
              <a:rPr kumimoji="0" lang="en-US" altLang="en-US" sz="800" b="1" i="0" u="none" strike="noStrike" cap="none" normalizeH="0" baseline="0" dirty="0">
                <a:ln>
                  <a:noFill/>
                </a:ln>
                <a:solidFill>
                  <a:schemeClr val="tx1">
                    <a:lumMod val="85000"/>
                    <a:lumOff val="15000"/>
                  </a:schemeClr>
                </a:solidFill>
                <a:effectLst/>
              </a:rPr>
              <a:t>Local Alarms:</a:t>
            </a:r>
            <a:br>
              <a:rPr kumimoji="0" lang="en-US" altLang="en-US" sz="800" b="0" i="0" u="none" strike="noStrike" cap="none" normalizeH="0" baseline="0" dirty="0">
                <a:ln>
                  <a:noFill/>
                </a:ln>
                <a:solidFill>
                  <a:schemeClr val="tx1">
                    <a:lumMod val="85000"/>
                    <a:lumOff val="15000"/>
                  </a:schemeClr>
                </a:solidFill>
                <a:effectLst/>
              </a:rPr>
            </a:br>
            <a:endParaRPr kumimoji="0" lang="en-US" altLang="en-US" sz="800" b="0" i="0" u="none" strike="noStrike" cap="none" normalizeH="0" baseline="0" dirty="0">
              <a:ln>
                <a:noFill/>
              </a:ln>
              <a:solidFill>
                <a:schemeClr val="tx1">
                  <a:lumMod val="85000"/>
                  <a:lumOff val="15000"/>
                </a:schemeClr>
              </a:solidFill>
              <a:effectLst/>
            </a:endParaRPr>
          </a:p>
          <a:p>
            <a:pPr marL="0" marR="0" lvl="0" indent="0" algn="ctr" defTabSz="914400" fontAlgn="base">
              <a:spcAft>
                <a:spcPct val="0"/>
              </a:spcAft>
              <a:buClrTx/>
              <a:buSzTx/>
              <a:tabLst/>
            </a:pPr>
            <a:r>
              <a:rPr kumimoji="0" lang="en-US" altLang="en-US" sz="800" b="1" i="0" u="none" strike="noStrike" cap="none" normalizeH="0" baseline="0" dirty="0">
                <a:ln>
                  <a:noFill/>
                </a:ln>
                <a:solidFill>
                  <a:schemeClr val="tx1">
                    <a:lumMod val="85000"/>
                    <a:lumOff val="15000"/>
                  </a:schemeClr>
                </a:solidFill>
                <a:effectLst/>
              </a:rPr>
              <a:t>GPS Acquisition:</a:t>
            </a:r>
            <a:br>
              <a:rPr kumimoji="0" lang="en-US" altLang="en-US" sz="800" b="1" i="0" u="none" strike="noStrike" cap="none" normalizeH="0" baseline="0" dirty="0">
                <a:ln>
                  <a:noFill/>
                </a:ln>
                <a:solidFill>
                  <a:schemeClr val="tx1">
                    <a:lumMod val="85000"/>
                    <a:lumOff val="15000"/>
                  </a:schemeClr>
                </a:solidFill>
                <a:effectLst/>
              </a:rPr>
            </a:br>
            <a:endParaRPr kumimoji="0" lang="en-US" altLang="en-US" sz="800" b="0" i="0" u="none" strike="noStrike" cap="none" normalizeH="0" baseline="0" dirty="0">
              <a:ln>
                <a:noFill/>
              </a:ln>
              <a:solidFill>
                <a:schemeClr val="tx1">
                  <a:lumMod val="85000"/>
                  <a:lumOff val="15000"/>
                </a:schemeClr>
              </a:solidFill>
              <a:effectLst/>
            </a:endParaRPr>
          </a:p>
          <a:p>
            <a:pPr marL="0" marR="0" lvl="0" indent="0" algn="ctr" defTabSz="914400" fontAlgn="base">
              <a:spcAft>
                <a:spcPct val="0"/>
              </a:spcAft>
              <a:buClrTx/>
              <a:buSzTx/>
              <a:tabLst/>
            </a:pPr>
            <a:r>
              <a:rPr kumimoji="0" lang="en-US" altLang="en-US" sz="800" b="1" i="0" u="none" strike="noStrike" cap="none" normalizeH="0" baseline="0" dirty="0">
                <a:ln>
                  <a:noFill/>
                </a:ln>
                <a:solidFill>
                  <a:schemeClr val="tx1">
                    <a:lumMod val="85000"/>
                    <a:lumOff val="15000"/>
                  </a:schemeClr>
                </a:solidFill>
                <a:effectLst/>
              </a:rPr>
              <a:t>SMS Alert:</a:t>
            </a:r>
            <a:br>
              <a:rPr kumimoji="0" lang="en-US" altLang="en-US" sz="800" b="0" i="0" u="none" strike="noStrike" cap="none" normalizeH="0" baseline="0" dirty="0">
                <a:ln>
                  <a:noFill/>
                </a:ln>
                <a:solidFill>
                  <a:schemeClr val="tx1">
                    <a:lumMod val="85000"/>
                    <a:lumOff val="15000"/>
                  </a:schemeClr>
                </a:solidFill>
                <a:effectLst/>
              </a:rPr>
            </a:br>
            <a:endParaRPr kumimoji="0" lang="en-US" altLang="en-US" sz="800" b="0" i="0" u="none" strike="noStrike" cap="none" normalizeH="0" baseline="0" dirty="0">
              <a:ln>
                <a:noFill/>
              </a:ln>
              <a:solidFill>
                <a:schemeClr val="tx1">
                  <a:lumMod val="85000"/>
                  <a:lumOff val="15000"/>
                </a:schemeClr>
              </a:solidFill>
              <a:effectLst/>
            </a:endParaRPr>
          </a:p>
          <a:p>
            <a:pPr marL="0" marR="0" lvl="0" indent="0" algn="ctr" defTabSz="914400" fontAlgn="base">
              <a:spcAft>
                <a:spcPct val="0"/>
              </a:spcAft>
              <a:buClrTx/>
              <a:buSzTx/>
              <a:tabLst/>
            </a:pPr>
            <a:r>
              <a:rPr kumimoji="0" lang="en-US" altLang="en-US" sz="800" b="1" i="0" u="none" strike="noStrike" cap="none" normalizeH="0" baseline="0" dirty="0">
                <a:ln>
                  <a:noFill/>
                </a:ln>
                <a:solidFill>
                  <a:schemeClr val="tx1">
                    <a:lumMod val="85000"/>
                    <a:lumOff val="15000"/>
                  </a:schemeClr>
                </a:solidFill>
                <a:effectLst/>
              </a:rPr>
              <a:t>Live Location Tracking:</a:t>
            </a:r>
            <a:endParaRPr kumimoji="0" lang="en-US" altLang="en-US" sz="800" b="0" i="0" u="none" strike="noStrike" cap="none" normalizeH="0" baseline="0" dirty="0">
              <a:ln>
                <a:noFill/>
              </a:ln>
              <a:solidFill>
                <a:schemeClr val="tx1">
                  <a:lumMod val="85000"/>
                  <a:lumOff val="15000"/>
                </a:schemeClr>
              </a:solidFill>
              <a:effectLst/>
            </a:endParaRPr>
          </a:p>
          <a:p>
            <a:pPr marL="0" marR="0" lvl="0" indent="0" algn="ctr" defTabSz="914400" fontAlgn="base">
              <a:spcAft>
                <a:spcPct val="0"/>
              </a:spcAft>
              <a:buClrTx/>
              <a:buSzTx/>
              <a:tabLst/>
            </a:pPr>
            <a:endParaRPr kumimoji="0" lang="en-US" altLang="en-US" sz="800" b="0" i="0" u="none" strike="noStrike" cap="none" normalizeH="0" baseline="0" dirty="0">
              <a:ln>
                <a:noFill/>
              </a:ln>
              <a:solidFill>
                <a:schemeClr val="tx1">
                  <a:lumMod val="85000"/>
                  <a:lumOff val="15000"/>
                </a:schemeClr>
              </a:solidFill>
              <a:effectLst/>
            </a:endParaRPr>
          </a:p>
        </p:txBody>
      </p:sp>
      <p:sp>
        <p:nvSpPr>
          <p:cNvPr id="7" name="TextBox 6">
            <a:extLst>
              <a:ext uri="{FF2B5EF4-FFF2-40B4-BE49-F238E27FC236}">
                <a16:creationId xmlns:a16="http://schemas.microsoft.com/office/drawing/2014/main" id="{C034B2E9-79E0-A629-6164-3CB9DDEA5667}"/>
              </a:ext>
            </a:extLst>
          </p:cNvPr>
          <p:cNvSpPr txBox="1"/>
          <p:nvPr/>
        </p:nvSpPr>
        <p:spPr>
          <a:xfrm>
            <a:off x="1819835" y="6019391"/>
            <a:ext cx="5486399" cy="365125"/>
          </a:xfrm>
          <a:prstGeom prst="rect">
            <a:avLst/>
          </a:prstGeom>
        </p:spPr>
        <p:txBody>
          <a:bodyPr vert="horz" lIns="91440" tIns="45720" rIns="91440" bIns="45720" rtlCol="0" anchor="t">
            <a:normAutofit/>
          </a:bodyPr>
          <a:lstStyle/>
          <a:p>
            <a:pPr algn="ctr">
              <a:lnSpc>
                <a:spcPct val="90000"/>
              </a:lnSpc>
              <a:spcBef>
                <a:spcPts val="1000"/>
              </a:spcBef>
            </a:pPr>
            <a:r>
              <a:rPr lang="en-US" sz="1400" b="1" i="1" u="sng">
                <a:solidFill>
                  <a:schemeClr val="tx1">
                    <a:lumMod val="85000"/>
                    <a:lumOff val="15000"/>
                  </a:schemeClr>
                </a:solidFill>
              </a:rPr>
              <a:t>Working Principal</a:t>
            </a:r>
          </a:p>
        </p:txBody>
      </p:sp>
      <p:pic>
        <p:nvPicPr>
          <p:cNvPr id="14" name="Picture 13" descr="A machine with wheels and wires&#10;&#10;AI-generated content may be incorrect.">
            <a:extLst>
              <a:ext uri="{FF2B5EF4-FFF2-40B4-BE49-F238E27FC236}">
                <a16:creationId xmlns:a16="http://schemas.microsoft.com/office/drawing/2014/main" id="{C5655270-13A2-0575-C7A2-77E9648B47B3}"/>
              </a:ext>
            </a:extLst>
          </p:cNvPr>
          <p:cNvPicPr>
            <a:picLocks noChangeAspect="1"/>
          </p:cNvPicPr>
          <p:nvPr/>
        </p:nvPicPr>
        <p:blipFill>
          <a:blip r:embed="rId2" cstate="print">
            <a:extLst>
              <a:ext uri="{28A0092B-C50C-407E-A947-70E740481C1C}">
                <a14:useLocalDpi xmlns:a14="http://schemas.microsoft.com/office/drawing/2010/main" val="0"/>
              </a:ext>
            </a:extLst>
          </a:blip>
          <a:srcRect t="6430" b="7735"/>
          <a:stretch>
            <a:fillRect/>
          </a:stretch>
        </p:blipFill>
        <p:spPr>
          <a:xfrm>
            <a:off x="20" y="10"/>
            <a:ext cx="9143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
        <p:nvSpPr>
          <p:cNvPr id="2" name="Date Placeholder 1">
            <a:extLst>
              <a:ext uri="{FF2B5EF4-FFF2-40B4-BE49-F238E27FC236}">
                <a16:creationId xmlns:a16="http://schemas.microsoft.com/office/drawing/2014/main" id="{1FC22296-E4FF-6024-295F-5DD4DE599BE1}"/>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a:spcAft>
                <a:spcPts val="600"/>
              </a:spcAft>
              <a:defRPr/>
            </a:pPr>
            <a:fld id="{D26B0C30-6035-4D4C-B956-87E1D61995D0}" type="datetime1">
              <a:rPr lang="en-US">
                <a:solidFill>
                  <a:schemeClr val="tx1">
                    <a:lumMod val="50000"/>
                    <a:lumOff val="50000"/>
                  </a:schemeClr>
                </a:solidFill>
                <a:latin typeface="Calibri" panose="020F0502020204030204"/>
              </a:rPr>
              <a:pPr>
                <a:spcAft>
                  <a:spcPts val="600"/>
                </a:spcAft>
                <a:defRPr/>
              </a:pPr>
              <a:t>11/5/2025</a:t>
            </a:fld>
            <a:endParaRPr lang="en-US">
              <a:solidFill>
                <a:schemeClr val="tx1">
                  <a:lumMod val="50000"/>
                  <a:lumOff val="50000"/>
                </a:schemeClr>
              </a:solidFill>
              <a:latin typeface="Calibri" panose="020F0502020204030204"/>
            </a:endParaRPr>
          </a:p>
        </p:txBody>
      </p:sp>
      <p:sp>
        <p:nvSpPr>
          <p:cNvPr id="3" name="Footer Placeholder 2">
            <a:extLst>
              <a:ext uri="{FF2B5EF4-FFF2-40B4-BE49-F238E27FC236}">
                <a16:creationId xmlns:a16="http://schemas.microsoft.com/office/drawing/2014/main" id="{C1989F87-843B-9C50-E42B-3CE3EF481E28}"/>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spcAft>
                <a:spcPts val="600"/>
              </a:spcAft>
              <a:defRPr/>
            </a:pPr>
            <a:r>
              <a:rPr lang="en-US" kern="1200">
                <a:solidFill>
                  <a:schemeClr val="tx1">
                    <a:lumMod val="50000"/>
                    <a:lumOff val="50000"/>
                  </a:schemeClr>
                </a:solidFill>
                <a:latin typeface="Calibri" panose="020F0502020204030204"/>
                <a:ea typeface="+mn-ea"/>
                <a:cs typeface="+mn-cs"/>
              </a:rPr>
              <a:t>United Institute of Technology</a:t>
            </a:r>
          </a:p>
        </p:txBody>
      </p:sp>
      <p:sp>
        <p:nvSpPr>
          <p:cNvPr id="4" name="Slide Number Placeholder 3">
            <a:extLst>
              <a:ext uri="{FF2B5EF4-FFF2-40B4-BE49-F238E27FC236}">
                <a16:creationId xmlns:a16="http://schemas.microsoft.com/office/drawing/2014/main" id="{07780A55-0A2F-DF2B-0285-6A0E72D0712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a:spcAft>
                <a:spcPts val="600"/>
              </a:spcAft>
              <a:defRPr/>
            </a:pPr>
            <a:fld id="{B6F15528-21DE-4FAA-801E-634DDDAF4B2B}" type="slidenum">
              <a:rPr lang="en-US">
                <a:solidFill>
                  <a:schemeClr val="tx1">
                    <a:lumMod val="50000"/>
                    <a:lumOff val="50000"/>
                  </a:schemeClr>
                </a:solidFill>
                <a:latin typeface="Calibri" panose="020F0502020204030204"/>
              </a:rPr>
              <a:pPr>
                <a:spcAft>
                  <a:spcPts val="600"/>
                </a:spcAft>
                <a:defRPr/>
              </a:pPr>
              <a:t>17</a:t>
            </a:fld>
            <a:endParaRPr lang="en-US">
              <a:solidFill>
                <a:schemeClr val="tx1">
                  <a:lumMod val="50000"/>
                  <a:lumOff val="50000"/>
                </a:schemeClr>
              </a:solidFill>
              <a:latin typeface="Calibri" panose="020F0502020204030204"/>
            </a:endParaRPr>
          </a:p>
        </p:txBody>
      </p:sp>
      <p:pic>
        <p:nvPicPr>
          <p:cNvPr id="5" name="Picture 4" descr="aktu logo.jpg">
            <a:extLst>
              <a:ext uri="{FF2B5EF4-FFF2-40B4-BE49-F238E27FC236}">
                <a16:creationId xmlns:a16="http://schemas.microsoft.com/office/drawing/2014/main" id="{C2AAAA6C-15E2-AC57-7438-506B77601A0D}"/>
              </a:ext>
            </a:extLst>
          </p:cNvPr>
          <p:cNvPicPr>
            <a:picLocks noChangeAspect="1"/>
          </p:cNvPicPr>
          <p:nvPr/>
        </p:nvPicPr>
        <p:blipFill>
          <a:blip r:embed="rId3"/>
          <a:stretch>
            <a:fillRect/>
          </a:stretch>
        </p:blipFill>
        <p:spPr>
          <a:xfrm>
            <a:off x="21771" y="1"/>
            <a:ext cx="481407" cy="381000"/>
          </a:xfrm>
          <a:prstGeom prst="rect">
            <a:avLst/>
          </a:prstGeom>
        </p:spPr>
      </p:pic>
      <p:pic>
        <p:nvPicPr>
          <p:cNvPr id="6" name="Picture 5" descr="united logo.jpg">
            <a:extLst>
              <a:ext uri="{FF2B5EF4-FFF2-40B4-BE49-F238E27FC236}">
                <a16:creationId xmlns:a16="http://schemas.microsoft.com/office/drawing/2014/main" id="{B05AA89F-D0A3-2C8B-E50F-D2E53C48ECD1}"/>
              </a:ext>
            </a:extLst>
          </p:cNvPr>
          <p:cNvPicPr>
            <a:picLocks noChangeAspect="1"/>
          </p:cNvPicPr>
          <p:nvPr/>
        </p:nvPicPr>
        <p:blipFill>
          <a:blip r:embed="rId4"/>
          <a:stretch>
            <a:fillRect/>
          </a:stretch>
        </p:blipFill>
        <p:spPr>
          <a:xfrm>
            <a:off x="8515350" y="0"/>
            <a:ext cx="628630" cy="470569"/>
          </a:xfrm>
          <a:prstGeom prst="rect">
            <a:avLst/>
          </a:prstGeom>
        </p:spPr>
      </p:pic>
    </p:spTree>
    <p:extLst>
      <p:ext uri="{BB962C8B-B14F-4D97-AF65-F5344CB8AC3E}">
        <p14:creationId xmlns:p14="http://schemas.microsoft.com/office/powerpoint/2010/main" val="2746742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0BA3-985B-88E5-8C4D-6CE65BB3754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8E999DB3-27E3-1C6F-B7F5-E167823E05E6}"/>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D0F58A19-ED11-D8F6-A45F-7F6A08CB4CFD}"/>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1F237C65-A242-15F0-7577-34796F67E29E}"/>
              </a:ext>
            </a:extLst>
          </p:cNvPr>
          <p:cNvSpPr>
            <a:spLocks noGrp="1"/>
          </p:cNvSpPr>
          <p:nvPr>
            <p:ph type="sldNum" sz="quarter" idx="12"/>
          </p:nvPr>
        </p:nvSpPr>
        <p:spPr/>
        <p:txBody>
          <a:bodyPr/>
          <a:lstStyle/>
          <a:p>
            <a:fld id="{B6F15528-21DE-4FAA-801E-634DDDAF4B2B}" type="slidenum">
              <a:rPr lang="en-US" smtClean="0"/>
              <a:pPr/>
              <a:t>18</a:t>
            </a:fld>
            <a:endParaRPr lang="en-US"/>
          </a:p>
        </p:txBody>
      </p:sp>
      <p:pic>
        <p:nvPicPr>
          <p:cNvPr id="5" name="Picture 4" descr="aktu logo.jpg">
            <a:extLst>
              <a:ext uri="{FF2B5EF4-FFF2-40B4-BE49-F238E27FC236}">
                <a16:creationId xmlns:a16="http://schemas.microsoft.com/office/drawing/2014/main" id="{79FA399C-EB17-DEFA-0E6F-2272DEA0147B}"/>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AF1BEA30-92F6-6C89-80A5-CE36357D227F}"/>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EA04CED1-A5CF-01B8-FD4E-045427A92211}"/>
              </a:ext>
            </a:extLst>
          </p:cNvPr>
          <p:cNvSpPr txBox="1"/>
          <p:nvPr/>
        </p:nvSpPr>
        <p:spPr>
          <a:xfrm>
            <a:off x="3200400" y="533400"/>
            <a:ext cx="2777492" cy="461665"/>
          </a:xfrm>
          <a:prstGeom prst="rect">
            <a:avLst/>
          </a:prstGeom>
          <a:noFill/>
        </p:spPr>
        <p:txBody>
          <a:bodyPr wrap="none" rtlCol="0">
            <a:spAutoFit/>
          </a:bodyPr>
          <a:lstStyle/>
          <a:p>
            <a:r>
              <a:rPr lang="en-IN" sz="2400" b="1" i="1" u="sng" dirty="0">
                <a:latin typeface="Arial Black" pitchFamily="34" charset="0"/>
              </a:rPr>
              <a:t>Result Analysis</a:t>
            </a:r>
            <a:endParaRPr lang="en-US" b="1" i="1" u="sng" dirty="0">
              <a:latin typeface="Arial Black" pitchFamily="34" charset="0"/>
            </a:endParaRPr>
          </a:p>
        </p:txBody>
      </p:sp>
      <p:sp>
        <p:nvSpPr>
          <p:cNvPr id="8" name="Rectangle 1">
            <a:extLst>
              <a:ext uri="{FF2B5EF4-FFF2-40B4-BE49-F238E27FC236}">
                <a16:creationId xmlns:a16="http://schemas.microsoft.com/office/drawing/2014/main" id="{5CF647A5-5EAC-2F3D-2382-6307AE708CDB}"/>
              </a:ext>
            </a:extLst>
          </p:cNvPr>
          <p:cNvSpPr>
            <a:spLocks noGrp="1" noChangeArrowheads="1"/>
          </p:cNvSpPr>
          <p:nvPr>
            <p:ph type="title"/>
          </p:nvPr>
        </p:nvSpPr>
        <p:spPr bwMode="auto">
          <a:xfrm>
            <a:off x="474346" y="1397674"/>
            <a:ext cx="82296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&amp; Alert Performance</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Accelerometer Response:</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Time: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Near-instantaneous (within 200ms of significant tilt/impact).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Sensitivity: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Tunable via maxTiltThreshold. Lower value = higher sensitivity.</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Fix Time:</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 on Alert: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 SMS might be delayed slightly if no valid GPS fix yet, but system attempts repeatedly.</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SMS Delivery Time:</a:t>
            </a:r>
            <a:b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Latency: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Varies by carrier and signal strength, typically 5-15 seconds.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SMS Time (from trigger):</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Naturally 15-30 seconds.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7751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93A91-69FC-9D56-5445-B181BC0AAA1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13C3776-A63B-8CE1-EF51-E396DA55B48A}"/>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BE3E36FD-648F-AC02-9688-F24269D218F3}"/>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C0C306F9-D69D-593E-5271-C31D8FA1782F}"/>
              </a:ext>
            </a:extLst>
          </p:cNvPr>
          <p:cNvSpPr>
            <a:spLocks noGrp="1"/>
          </p:cNvSpPr>
          <p:nvPr>
            <p:ph type="sldNum" sz="quarter" idx="12"/>
          </p:nvPr>
        </p:nvSpPr>
        <p:spPr/>
        <p:txBody>
          <a:bodyPr/>
          <a:lstStyle/>
          <a:p>
            <a:fld id="{B6F15528-21DE-4FAA-801E-634DDDAF4B2B}" type="slidenum">
              <a:rPr lang="en-US" smtClean="0"/>
              <a:pPr/>
              <a:t>19</a:t>
            </a:fld>
            <a:endParaRPr lang="en-US"/>
          </a:p>
        </p:txBody>
      </p:sp>
      <p:pic>
        <p:nvPicPr>
          <p:cNvPr id="5" name="Picture 4" descr="aktu logo.jpg">
            <a:extLst>
              <a:ext uri="{FF2B5EF4-FFF2-40B4-BE49-F238E27FC236}">
                <a16:creationId xmlns:a16="http://schemas.microsoft.com/office/drawing/2014/main" id="{1F36980D-150B-05A9-A84C-E1D36E45BF2A}"/>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5C0A7F4F-E9D7-A740-CCC3-1311486D5CFA}"/>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CF6285A2-BC3A-334C-F270-C8E2E4F88121}"/>
              </a:ext>
            </a:extLst>
          </p:cNvPr>
          <p:cNvSpPr txBox="1"/>
          <p:nvPr/>
        </p:nvSpPr>
        <p:spPr>
          <a:xfrm>
            <a:off x="3200400" y="533400"/>
            <a:ext cx="2170915" cy="461665"/>
          </a:xfrm>
          <a:prstGeom prst="rect">
            <a:avLst/>
          </a:prstGeom>
          <a:noFill/>
        </p:spPr>
        <p:txBody>
          <a:bodyPr wrap="none" rtlCol="0">
            <a:spAutoFit/>
          </a:bodyPr>
          <a:lstStyle/>
          <a:p>
            <a:r>
              <a:rPr lang="en-IN" sz="2400" b="1" i="1" u="sng" dirty="0">
                <a:latin typeface="Arial Black" pitchFamily="34" charset="0"/>
              </a:rPr>
              <a:t>Advantages</a:t>
            </a:r>
            <a:endParaRPr lang="en-US" b="1" i="1" u="sng" dirty="0">
              <a:latin typeface="Arial Black" pitchFamily="34" charset="0"/>
            </a:endParaRPr>
          </a:p>
        </p:txBody>
      </p:sp>
      <p:sp>
        <p:nvSpPr>
          <p:cNvPr id="8" name="Rectangle 1">
            <a:extLst>
              <a:ext uri="{FF2B5EF4-FFF2-40B4-BE49-F238E27FC236}">
                <a16:creationId xmlns:a16="http://schemas.microsoft.com/office/drawing/2014/main" id="{DF3A271F-B9A1-B86B-DD96-5F742A4C05AE}"/>
              </a:ext>
            </a:extLst>
          </p:cNvPr>
          <p:cNvSpPr>
            <a:spLocks noGrp="1" noChangeArrowheads="1"/>
          </p:cNvSpPr>
          <p:nvPr>
            <p:ph type="title"/>
          </p:nvPr>
        </p:nvSpPr>
        <p:spPr bwMode="auto">
          <a:xfrm>
            <a:off x="628650" y="1771134"/>
            <a:ext cx="805815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Rapid Response: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Significantly reduces emergency response time by automating notification.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Precise Location: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exact GPS coordinates, overcoming challenges of vague accident locations.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defTabSz="914400" eaLnBrk="0" fontAlgn="base" hangingPunct="0">
              <a:lnSpc>
                <a:spcPct val="100000"/>
              </a:lnSpc>
              <a:spcAft>
                <a:spcPct val="0"/>
              </a:spcAft>
              <a:buFont typeface="+mj-lt"/>
              <a:buAutoNum type="arabicParen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Autonomous Operation: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Functions without human intervention post-accident.</a:t>
            </a:r>
            <a:br>
              <a:rPr lang="en-US" sz="1800" dirty="0"/>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Interface: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Easy to understand status via LCD and simple button controls.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Trigger Mechanism: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Offers both automatic (sensor-based) and manual (user-initiated) alerts.</a:t>
            </a:r>
          </a:p>
        </p:txBody>
      </p:sp>
    </p:spTree>
    <p:extLst>
      <p:ext uri="{BB962C8B-B14F-4D97-AF65-F5344CB8AC3E}">
        <p14:creationId xmlns:p14="http://schemas.microsoft.com/office/powerpoint/2010/main" val="1488107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33B18-5B30-164C-DB82-6511730DCA0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F5EC504-3506-60AF-5A05-2D4F87EA8505}"/>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542D1A4C-A789-D837-EE4F-502229B164D9}"/>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6AFFC9A0-D68C-EA59-507D-FC8C1870DDFF}"/>
              </a:ext>
            </a:extLst>
          </p:cNvPr>
          <p:cNvSpPr>
            <a:spLocks noGrp="1"/>
          </p:cNvSpPr>
          <p:nvPr>
            <p:ph type="sldNum" sz="quarter" idx="12"/>
          </p:nvPr>
        </p:nvSpPr>
        <p:spPr/>
        <p:txBody>
          <a:bodyPr/>
          <a:lstStyle/>
          <a:p>
            <a:fld id="{B6F15528-21DE-4FAA-801E-634DDDAF4B2B}" type="slidenum">
              <a:rPr lang="en-US" smtClean="0"/>
              <a:pPr/>
              <a:t>20</a:t>
            </a:fld>
            <a:endParaRPr lang="en-US"/>
          </a:p>
        </p:txBody>
      </p:sp>
      <p:pic>
        <p:nvPicPr>
          <p:cNvPr id="5" name="Picture 4" descr="aktu logo.jpg">
            <a:extLst>
              <a:ext uri="{FF2B5EF4-FFF2-40B4-BE49-F238E27FC236}">
                <a16:creationId xmlns:a16="http://schemas.microsoft.com/office/drawing/2014/main" id="{2638A070-1C3C-8FEE-F914-0E1A3317B1A3}"/>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13495963-D4D2-6D9A-AC2B-85343AF61726}"/>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9FD95480-5B91-D85B-1394-0A964BF115FE}"/>
              </a:ext>
            </a:extLst>
          </p:cNvPr>
          <p:cNvSpPr txBox="1"/>
          <p:nvPr/>
        </p:nvSpPr>
        <p:spPr>
          <a:xfrm>
            <a:off x="3200400" y="533400"/>
            <a:ext cx="2098651" cy="461665"/>
          </a:xfrm>
          <a:prstGeom prst="rect">
            <a:avLst/>
          </a:prstGeom>
          <a:noFill/>
        </p:spPr>
        <p:txBody>
          <a:bodyPr wrap="none" rtlCol="0">
            <a:spAutoFit/>
          </a:bodyPr>
          <a:lstStyle/>
          <a:p>
            <a:r>
              <a:rPr lang="en-IN" sz="2400" b="1" i="1" u="sng" dirty="0">
                <a:latin typeface="Arial Black" pitchFamily="34" charset="0"/>
              </a:rPr>
              <a:t>Application</a:t>
            </a:r>
            <a:endParaRPr lang="en-US" b="1" i="1" u="sng" dirty="0">
              <a:latin typeface="Arial Black" pitchFamily="34" charset="0"/>
            </a:endParaRPr>
          </a:p>
        </p:txBody>
      </p:sp>
      <p:sp>
        <p:nvSpPr>
          <p:cNvPr id="8" name="Rectangle 1">
            <a:extLst>
              <a:ext uri="{FF2B5EF4-FFF2-40B4-BE49-F238E27FC236}">
                <a16:creationId xmlns:a16="http://schemas.microsoft.com/office/drawing/2014/main" id="{B494CED8-2D8A-2D3D-4A47-4834AA39FA0F}"/>
              </a:ext>
            </a:extLst>
          </p:cNvPr>
          <p:cNvSpPr>
            <a:spLocks noGrp="1" noChangeArrowheads="1"/>
          </p:cNvSpPr>
          <p:nvPr>
            <p:ph type="title"/>
          </p:nvPr>
        </p:nvSpPr>
        <p:spPr bwMode="auto">
          <a:xfrm>
            <a:off x="628650" y="1813908"/>
            <a:ext cx="805815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 Vehicles: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Standard integration into cars, motorcycles, and trucks.</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Public Transport: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Buses, taxis, auto-rickshaws for enhanced passenger safety.</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Area Travel:</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Particularly valuable where cellular network coverage might be spotted but GPS is available, and manual reporting is difficult.</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Elderly Drivers / Vulnerable Road Users: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an added layer of safety.</a:t>
            </a: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Off-Road Vehicles: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 terrain vehicles and utility task vehicles(ATV, UTV, )where accidents are common and help is often far away.</a:t>
            </a:r>
          </a:p>
        </p:txBody>
      </p:sp>
    </p:spTree>
    <p:extLst>
      <p:ext uri="{BB962C8B-B14F-4D97-AF65-F5344CB8AC3E}">
        <p14:creationId xmlns:p14="http://schemas.microsoft.com/office/powerpoint/2010/main" val="683535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C3F45-131E-B5C2-6D41-BBE3A44F7DD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722E731-ABBB-F2E0-D323-FD0E93CA886B}"/>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B89875D9-C231-7001-4903-A52A6D20096E}"/>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59853CE6-F3EA-FCDC-81C8-A1FCC8F3672B}"/>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5" name="Picture 4" descr="aktu logo.jpg">
            <a:extLst>
              <a:ext uri="{FF2B5EF4-FFF2-40B4-BE49-F238E27FC236}">
                <a16:creationId xmlns:a16="http://schemas.microsoft.com/office/drawing/2014/main" id="{C75DAD7F-0F8A-35C5-0552-628EFBB53F55}"/>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D908D80B-265A-B27D-F08E-D990F53D324B}"/>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EE93A4F2-7514-9581-1633-57C34785394F}"/>
              </a:ext>
            </a:extLst>
          </p:cNvPr>
          <p:cNvSpPr txBox="1"/>
          <p:nvPr/>
        </p:nvSpPr>
        <p:spPr>
          <a:xfrm>
            <a:off x="3200400" y="533400"/>
            <a:ext cx="2039404" cy="461665"/>
          </a:xfrm>
          <a:prstGeom prst="rect">
            <a:avLst/>
          </a:prstGeom>
          <a:noFill/>
        </p:spPr>
        <p:txBody>
          <a:bodyPr wrap="none" rtlCol="0">
            <a:spAutoFit/>
          </a:bodyPr>
          <a:lstStyle/>
          <a:p>
            <a:r>
              <a:rPr lang="en-IN" sz="2400" b="1" i="1" u="sng" dirty="0">
                <a:latin typeface="Arial Black" pitchFamily="34" charset="0"/>
              </a:rPr>
              <a:t>Conclusion</a:t>
            </a:r>
            <a:endParaRPr lang="en-US" b="1" i="1" u="sng" dirty="0">
              <a:latin typeface="Arial Black" pitchFamily="34" charset="0"/>
            </a:endParaRPr>
          </a:p>
        </p:txBody>
      </p:sp>
      <p:sp>
        <p:nvSpPr>
          <p:cNvPr id="8" name="Rectangle 1">
            <a:extLst>
              <a:ext uri="{FF2B5EF4-FFF2-40B4-BE49-F238E27FC236}">
                <a16:creationId xmlns:a16="http://schemas.microsoft.com/office/drawing/2014/main" id="{6988BC0F-55B1-51B1-1D17-E73FF402A385}"/>
              </a:ext>
            </a:extLst>
          </p:cNvPr>
          <p:cNvSpPr>
            <a:spLocks noGrp="1" noChangeArrowheads="1"/>
          </p:cNvSpPr>
          <p:nvPr>
            <p:ph type="title"/>
          </p:nvPr>
        </p:nvSpPr>
        <p:spPr bwMode="auto">
          <a:xfrm>
            <a:off x="628650" y="1726536"/>
            <a:ext cx="805815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developed </a:t>
            </a:r>
            <a:r>
              <a:rPr lang="en-US" altLang="en-US" sz="1800" dirty="0">
                <a:latin typeface="Times New Roman" panose="02020603050405020304" pitchFamily="18" charset="0"/>
                <a:cs typeface="Times New Roman" panose="02020603050405020304" pitchFamily="18" charset="0"/>
              </a:rPr>
              <a:t>Vehicle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Accident Detection System successfully integrates sensor technology, GPS, and GSM communication to create an effective and automated emergency response solution.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providing immediate, precise location data and local alarms, the project directly addresses the critical issue of delayed accident assistance.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system represents a significant step towards enhancing road safety and potentially saving lives by ensuring timely medical intervention.</a:t>
            </a:r>
          </a:p>
        </p:txBody>
      </p:sp>
    </p:spTree>
    <p:extLst>
      <p:ext uri="{BB962C8B-B14F-4D97-AF65-F5344CB8AC3E}">
        <p14:creationId xmlns:p14="http://schemas.microsoft.com/office/powerpoint/2010/main" val="229974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26CE3-FFBF-D44C-65A1-A5AF5F08AD4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9DA45B6-B861-C629-7140-4306A21D065F}"/>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79412B2C-3DE3-595C-38F9-5EA81096E9FF}"/>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E946FE0F-0DAA-1B31-0B3A-046288CBF97A}"/>
              </a:ext>
            </a:extLst>
          </p:cNvPr>
          <p:cNvSpPr>
            <a:spLocks noGrp="1"/>
          </p:cNvSpPr>
          <p:nvPr>
            <p:ph type="sldNum" sz="quarter" idx="12"/>
          </p:nvPr>
        </p:nvSpPr>
        <p:spPr/>
        <p:txBody>
          <a:bodyPr/>
          <a:lstStyle/>
          <a:p>
            <a:fld id="{B6F15528-21DE-4FAA-801E-634DDDAF4B2B}" type="slidenum">
              <a:rPr lang="en-US" smtClean="0"/>
              <a:pPr/>
              <a:t>22</a:t>
            </a:fld>
            <a:endParaRPr lang="en-US"/>
          </a:p>
        </p:txBody>
      </p:sp>
      <p:pic>
        <p:nvPicPr>
          <p:cNvPr id="5" name="Picture 4" descr="aktu logo.jpg">
            <a:extLst>
              <a:ext uri="{FF2B5EF4-FFF2-40B4-BE49-F238E27FC236}">
                <a16:creationId xmlns:a16="http://schemas.microsoft.com/office/drawing/2014/main" id="{E891F186-8D15-3BD1-F855-1523C5E6FF81}"/>
              </a:ext>
            </a:extLst>
          </p:cNvPr>
          <p:cNvPicPr>
            <a:picLocks noChangeAspect="1"/>
          </p:cNvPicPr>
          <p:nvPr/>
        </p:nvPicPr>
        <p:blipFill>
          <a:blip r:embed="rId2"/>
          <a:stretch>
            <a:fillRect/>
          </a:stretch>
        </p:blipFill>
        <p:spPr>
          <a:xfrm>
            <a:off x="266700" y="112067"/>
            <a:ext cx="1257300" cy="995065"/>
          </a:xfrm>
          <a:prstGeom prst="rect">
            <a:avLst/>
          </a:prstGeom>
        </p:spPr>
      </p:pic>
      <p:pic>
        <p:nvPicPr>
          <p:cNvPr id="6" name="Picture 5" descr="united logo.jpg">
            <a:extLst>
              <a:ext uri="{FF2B5EF4-FFF2-40B4-BE49-F238E27FC236}">
                <a16:creationId xmlns:a16="http://schemas.microsoft.com/office/drawing/2014/main" id="{DB664ACB-C28C-BE0D-623A-D6F41CBE4B46}"/>
              </a:ext>
            </a:extLst>
          </p:cNvPr>
          <p:cNvPicPr>
            <a:picLocks noChangeAspect="1"/>
          </p:cNvPicPr>
          <p:nvPr/>
        </p:nvPicPr>
        <p:blipFill>
          <a:blip r:embed="rId3"/>
          <a:stretch>
            <a:fillRect/>
          </a:stretch>
        </p:blipFill>
        <p:spPr>
          <a:xfrm>
            <a:off x="7315200" y="0"/>
            <a:ext cx="1628723" cy="1219200"/>
          </a:xfrm>
          <a:prstGeom prst="rect">
            <a:avLst/>
          </a:prstGeom>
        </p:spPr>
      </p:pic>
      <p:sp>
        <p:nvSpPr>
          <p:cNvPr id="7" name="TextBox 6">
            <a:extLst>
              <a:ext uri="{FF2B5EF4-FFF2-40B4-BE49-F238E27FC236}">
                <a16:creationId xmlns:a16="http://schemas.microsoft.com/office/drawing/2014/main" id="{C97E3DAA-EF99-A3CD-16EA-26CD2D9AEB57}"/>
              </a:ext>
            </a:extLst>
          </p:cNvPr>
          <p:cNvSpPr txBox="1"/>
          <p:nvPr/>
        </p:nvSpPr>
        <p:spPr>
          <a:xfrm>
            <a:off x="3200400" y="533400"/>
            <a:ext cx="2428998" cy="461665"/>
          </a:xfrm>
          <a:prstGeom prst="rect">
            <a:avLst/>
          </a:prstGeom>
          <a:noFill/>
        </p:spPr>
        <p:txBody>
          <a:bodyPr wrap="none" rtlCol="0">
            <a:spAutoFit/>
          </a:bodyPr>
          <a:lstStyle/>
          <a:p>
            <a:r>
              <a:rPr lang="en-IN" sz="2400" b="1" i="1" u="sng" dirty="0">
                <a:latin typeface="Arial Black" pitchFamily="34" charset="0"/>
              </a:rPr>
              <a:t>Future Scope</a:t>
            </a:r>
            <a:endParaRPr lang="en-US" b="1" i="1" u="sng" dirty="0">
              <a:latin typeface="Arial Black" pitchFamily="34" charset="0"/>
            </a:endParaRPr>
          </a:p>
        </p:txBody>
      </p:sp>
      <p:sp>
        <p:nvSpPr>
          <p:cNvPr id="8" name="Rectangle 1">
            <a:extLst>
              <a:ext uri="{FF2B5EF4-FFF2-40B4-BE49-F238E27FC236}">
                <a16:creationId xmlns:a16="http://schemas.microsoft.com/office/drawing/2014/main" id="{2BA00302-A457-C4B4-C83C-D175C7A514E7}"/>
              </a:ext>
            </a:extLst>
          </p:cNvPr>
          <p:cNvSpPr>
            <a:spLocks noGrp="1" noChangeArrowheads="1"/>
          </p:cNvSpPr>
          <p:nvPr>
            <p:ph type="title"/>
          </p:nvPr>
        </p:nvSpPr>
        <p:spPr bwMode="auto">
          <a:xfrm>
            <a:off x="642505" y="1191491"/>
            <a:ext cx="80581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Times New Roman" panose="02020603050405020304" pitchFamily="18" charset="0"/>
                <a:cs typeface="Times New Roman" panose="02020603050405020304" pitchFamily="18" charset="0"/>
              </a:rPr>
              <a:t>1</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Voice Call 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Extend GSM functionality to make an automated voice call to emergency numbers in addition to SMS.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Times New Roman" panose="02020603050405020304" pitchFamily="18" charset="0"/>
                <a:cs typeface="Times New Roman" panose="02020603050405020304" pitchFamily="18" charset="0"/>
              </a:rPr>
              <a:t>2</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Multi-Contact Alert: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 for sending SMS/calls to multiple pre-configured numbers.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Times New Roman" panose="02020603050405020304" pitchFamily="18" charset="0"/>
                <a:cs typeface="Times New Roman" panose="02020603050405020304" pitchFamily="18" charset="0"/>
              </a:rPr>
              <a:t>3</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Monitoring Web Platform: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 a web/mobile application for real-time tracking and accident history logging via an IoT cloud platform (e.g., ThingSpeak, Firebase).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Times New Roman" panose="02020603050405020304" pitchFamily="18" charset="0"/>
                <a:cs typeface="Times New Roman" panose="02020603050405020304" pitchFamily="18" charset="0"/>
              </a:rPr>
              <a:t>4</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Advanced Algorithms: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Machine learning to differentiate between false alarms (potholes) and actual accidents.</a:t>
            </a:r>
          </a:p>
        </p:txBody>
      </p:sp>
    </p:spTree>
    <p:extLst>
      <p:ext uri="{BB962C8B-B14F-4D97-AF65-F5344CB8AC3E}">
        <p14:creationId xmlns:p14="http://schemas.microsoft.com/office/powerpoint/2010/main" val="2996086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A753-E723-D842-7E8F-E01C6E764FD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276A5C5-66FB-F1A5-D9F8-71B57F251708}"/>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DA330E13-BBB2-73D3-1309-75E843916DA5}"/>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65A6E746-137A-6DFA-2830-EADB4F3968A3}"/>
              </a:ext>
            </a:extLst>
          </p:cNvPr>
          <p:cNvSpPr>
            <a:spLocks noGrp="1"/>
          </p:cNvSpPr>
          <p:nvPr>
            <p:ph type="sldNum" sz="quarter" idx="12"/>
          </p:nvPr>
        </p:nvSpPr>
        <p:spPr/>
        <p:txBody>
          <a:bodyPr/>
          <a:lstStyle/>
          <a:p>
            <a:fld id="{B6F15528-21DE-4FAA-801E-634DDDAF4B2B}" type="slidenum">
              <a:rPr lang="en-US" smtClean="0"/>
              <a:pPr/>
              <a:t>23</a:t>
            </a:fld>
            <a:endParaRPr lang="en-US"/>
          </a:p>
        </p:txBody>
      </p:sp>
      <p:pic>
        <p:nvPicPr>
          <p:cNvPr id="5" name="Picture 4" descr="aktu logo.jpg">
            <a:extLst>
              <a:ext uri="{FF2B5EF4-FFF2-40B4-BE49-F238E27FC236}">
                <a16:creationId xmlns:a16="http://schemas.microsoft.com/office/drawing/2014/main" id="{169CBC9F-B448-88F7-4DF2-A950108DBBFB}"/>
              </a:ext>
            </a:extLst>
          </p:cNvPr>
          <p:cNvPicPr>
            <a:picLocks noChangeAspect="1"/>
          </p:cNvPicPr>
          <p:nvPr/>
        </p:nvPicPr>
        <p:blipFill>
          <a:blip r:embed="rId2"/>
          <a:stretch>
            <a:fillRect/>
          </a:stretch>
        </p:blipFill>
        <p:spPr>
          <a:xfrm>
            <a:off x="116266" y="77902"/>
            <a:ext cx="1024768" cy="811032"/>
          </a:xfrm>
          <a:prstGeom prst="rect">
            <a:avLst/>
          </a:prstGeom>
        </p:spPr>
      </p:pic>
      <p:pic>
        <p:nvPicPr>
          <p:cNvPr id="6" name="Picture 5" descr="united logo.jpg">
            <a:extLst>
              <a:ext uri="{FF2B5EF4-FFF2-40B4-BE49-F238E27FC236}">
                <a16:creationId xmlns:a16="http://schemas.microsoft.com/office/drawing/2014/main" id="{6C7113D9-184D-438E-5656-ED92770D0ACD}"/>
              </a:ext>
            </a:extLst>
          </p:cNvPr>
          <p:cNvPicPr>
            <a:picLocks noChangeAspect="1"/>
          </p:cNvPicPr>
          <p:nvPr/>
        </p:nvPicPr>
        <p:blipFill>
          <a:blip r:embed="rId3"/>
          <a:stretch>
            <a:fillRect/>
          </a:stretch>
        </p:blipFill>
        <p:spPr>
          <a:xfrm>
            <a:off x="7890055" y="0"/>
            <a:ext cx="1233163" cy="923099"/>
          </a:xfrm>
          <a:prstGeom prst="rect">
            <a:avLst/>
          </a:prstGeom>
        </p:spPr>
      </p:pic>
      <p:sp>
        <p:nvSpPr>
          <p:cNvPr id="7" name="TextBox 6">
            <a:extLst>
              <a:ext uri="{FF2B5EF4-FFF2-40B4-BE49-F238E27FC236}">
                <a16:creationId xmlns:a16="http://schemas.microsoft.com/office/drawing/2014/main" id="{BBA07B1D-53D5-2A6C-AB4A-F781FAA078C2}"/>
              </a:ext>
            </a:extLst>
          </p:cNvPr>
          <p:cNvSpPr txBox="1"/>
          <p:nvPr/>
        </p:nvSpPr>
        <p:spPr>
          <a:xfrm>
            <a:off x="3160313" y="286751"/>
            <a:ext cx="2861232" cy="461665"/>
          </a:xfrm>
          <a:prstGeom prst="rect">
            <a:avLst/>
          </a:prstGeom>
          <a:noFill/>
        </p:spPr>
        <p:txBody>
          <a:bodyPr wrap="none" rtlCol="0">
            <a:spAutoFit/>
          </a:bodyPr>
          <a:lstStyle/>
          <a:p>
            <a:r>
              <a:rPr lang="en-IN" sz="2400" b="1" i="1" u="sng" dirty="0">
                <a:latin typeface="Arial Black" pitchFamily="34" charset="0"/>
              </a:rPr>
              <a:t>Cost Estimation</a:t>
            </a:r>
            <a:endParaRPr lang="en-US" b="1" i="1" u="sng" dirty="0">
              <a:latin typeface="Arial Black" pitchFamily="34" charset="0"/>
            </a:endParaRPr>
          </a:p>
        </p:txBody>
      </p:sp>
      <p:graphicFrame>
        <p:nvGraphicFramePr>
          <p:cNvPr id="11" name="Table 10">
            <a:extLst>
              <a:ext uri="{FF2B5EF4-FFF2-40B4-BE49-F238E27FC236}">
                <a16:creationId xmlns:a16="http://schemas.microsoft.com/office/drawing/2014/main" id="{BF15E2E0-77D5-6201-0CC5-2A74A775A008}"/>
              </a:ext>
            </a:extLst>
          </p:cNvPr>
          <p:cNvGraphicFramePr>
            <a:graphicFrameLocks noGrp="1"/>
          </p:cNvGraphicFramePr>
          <p:nvPr>
            <p:extLst>
              <p:ext uri="{D42A27DB-BD31-4B8C-83A1-F6EECF244321}">
                <p14:modId xmlns:p14="http://schemas.microsoft.com/office/powerpoint/2010/main" val="1634960288"/>
              </p:ext>
            </p:extLst>
          </p:nvPr>
        </p:nvGraphicFramePr>
        <p:xfrm>
          <a:off x="1115634" y="788720"/>
          <a:ext cx="6872560" cy="5605731"/>
        </p:xfrm>
        <a:graphic>
          <a:graphicData uri="http://schemas.openxmlformats.org/drawingml/2006/table">
            <a:tbl>
              <a:tblPr firstRow="1" bandRow="1">
                <a:tableStyleId>{5C22544A-7EE6-4342-B048-85BDC9FD1C3A}</a:tableStyleId>
              </a:tblPr>
              <a:tblGrid>
                <a:gridCol w="937450">
                  <a:extLst>
                    <a:ext uri="{9D8B030D-6E8A-4147-A177-3AD203B41FA5}">
                      <a16:colId xmlns:a16="http://schemas.microsoft.com/office/drawing/2014/main" val="3697501703"/>
                    </a:ext>
                  </a:extLst>
                </a:gridCol>
                <a:gridCol w="2117830">
                  <a:extLst>
                    <a:ext uri="{9D8B030D-6E8A-4147-A177-3AD203B41FA5}">
                      <a16:colId xmlns:a16="http://schemas.microsoft.com/office/drawing/2014/main" val="4008373520"/>
                    </a:ext>
                  </a:extLst>
                </a:gridCol>
                <a:gridCol w="1920154">
                  <a:extLst>
                    <a:ext uri="{9D8B030D-6E8A-4147-A177-3AD203B41FA5}">
                      <a16:colId xmlns:a16="http://schemas.microsoft.com/office/drawing/2014/main" val="286955346"/>
                    </a:ext>
                  </a:extLst>
                </a:gridCol>
                <a:gridCol w="1897126">
                  <a:extLst>
                    <a:ext uri="{9D8B030D-6E8A-4147-A177-3AD203B41FA5}">
                      <a16:colId xmlns:a16="http://schemas.microsoft.com/office/drawing/2014/main" val="2741601992"/>
                    </a:ext>
                  </a:extLst>
                </a:gridCol>
              </a:tblGrid>
              <a:tr h="0">
                <a:tc>
                  <a:txBody>
                    <a:bodyPr/>
                    <a:lstStyle/>
                    <a:p>
                      <a:r>
                        <a:rPr lang="en-US" dirty="0" err="1"/>
                        <a:t>Serial.No</a:t>
                      </a:r>
                      <a:endParaRPr lang="en-US" dirty="0"/>
                    </a:p>
                  </a:txBody>
                  <a:tcPr/>
                </a:tc>
                <a:tc>
                  <a:txBody>
                    <a:bodyPr/>
                    <a:lstStyle/>
                    <a:p>
                      <a:pPr algn="ctr"/>
                      <a:r>
                        <a:rPr lang="en-US" dirty="0"/>
                        <a:t>Component</a:t>
                      </a:r>
                    </a:p>
                  </a:txBody>
                  <a:tcPr/>
                </a:tc>
                <a:tc>
                  <a:txBody>
                    <a:bodyPr/>
                    <a:lstStyle/>
                    <a:p>
                      <a:pPr algn="ctr"/>
                      <a:r>
                        <a:rPr lang="en-US" dirty="0"/>
                        <a:t>Quantity</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350" b="0" i="0" kern="1200" dirty="0">
                          <a:solidFill>
                            <a:schemeClr val="lt1"/>
                          </a:solidFill>
                          <a:effectLst/>
                          <a:latin typeface="+mn-lt"/>
                          <a:ea typeface="+mn-ea"/>
                          <a:cs typeface="+mn-cs"/>
                        </a:rPr>
                        <a:t> ₹</a:t>
                      </a:r>
                      <a:r>
                        <a:rPr lang="en-US" sz="1350" b="1" i="0" kern="1200" dirty="0">
                          <a:solidFill>
                            <a:schemeClr val="lt1"/>
                          </a:solidFill>
                          <a:effectLst/>
                          <a:latin typeface="+mn-lt"/>
                          <a:ea typeface="+mn-ea"/>
                          <a:cs typeface="+mn-cs"/>
                        </a:rPr>
                        <a:t> Cost</a:t>
                      </a:r>
                      <a:endParaRPr lang="en-US" b="1" dirty="0"/>
                    </a:p>
                    <a:p>
                      <a:endParaRPr lang="en-US" sz="1350" b="0" i="0" kern="1200" dirty="0">
                        <a:solidFill>
                          <a:schemeClr val="lt1"/>
                        </a:solidFill>
                        <a:effectLst/>
                        <a:latin typeface="+mn-lt"/>
                        <a:ea typeface="+mn-ea"/>
                        <a:cs typeface="+mn-cs"/>
                      </a:endParaRPr>
                    </a:p>
                  </a:txBody>
                  <a:tcPr/>
                </a:tc>
                <a:extLst>
                  <a:ext uri="{0D108BD9-81ED-4DB2-BD59-A6C34878D82A}">
                    <a16:rowId xmlns:a16="http://schemas.microsoft.com/office/drawing/2014/main" val="4103575600"/>
                  </a:ext>
                </a:extLst>
              </a:tr>
              <a:tr h="203476">
                <a:tc>
                  <a:txBody>
                    <a:bodyPr/>
                    <a:lstStyle/>
                    <a:p>
                      <a:pPr marL="0" indent="0" algn="ctr">
                        <a:buFont typeface="+mj-lt"/>
                        <a:buNone/>
                      </a:pPr>
                      <a:r>
                        <a:rPr lang="en-US" dirty="0"/>
                        <a:t>1) </a:t>
                      </a:r>
                    </a:p>
                    <a:p>
                      <a:pPr marL="0" indent="0" algn="ctr">
                        <a:buFont typeface="+mj-lt"/>
                        <a:buNone/>
                      </a:pPr>
                      <a:endParaRPr lang="en-US" dirty="0"/>
                    </a:p>
                  </a:txBody>
                  <a:tcPr/>
                </a:tc>
                <a:tc>
                  <a:txBody>
                    <a:bodyPr/>
                    <a:lstStyle/>
                    <a:p>
                      <a:r>
                        <a:rPr lang="en-US" b="1" dirty="0"/>
                        <a:t>SIM900A GSM Modul</a:t>
                      </a:r>
                    </a:p>
                    <a:p>
                      <a:endParaRPr lang="en-US" b="1" dirty="0"/>
                    </a:p>
                  </a:txBody>
                  <a:tcPr/>
                </a:tc>
                <a:tc>
                  <a:txBody>
                    <a:bodyPr/>
                    <a:lstStyle/>
                    <a:p>
                      <a:pPr algn="ctr"/>
                      <a:r>
                        <a:rPr lang="en-US" dirty="0"/>
                        <a:t>1</a:t>
                      </a:r>
                    </a:p>
                  </a:txBody>
                  <a:tcPr/>
                </a:tc>
                <a:tc>
                  <a:txBody>
                    <a:bodyPr/>
                    <a:lstStyle/>
                    <a:p>
                      <a:pPr algn="ctr"/>
                      <a:r>
                        <a:rPr lang="en-US" b="1" i="1" dirty="0">
                          <a:effectLst/>
                        </a:rPr>
                        <a:t>1050</a:t>
                      </a:r>
                    </a:p>
                  </a:txBody>
                  <a:tcPr/>
                </a:tc>
                <a:extLst>
                  <a:ext uri="{0D108BD9-81ED-4DB2-BD59-A6C34878D82A}">
                    <a16:rowId xmlns:a16="http://schemas.microsoft.com/office/drawing/2014/main" val="1057813804"/>
                  </a:ext>
                </a:extLst>
              </a:tr>
              <a:tr h="288434">
                <a:tc>
                  <a:txBody>
                    <a:bodyPr/>
                    <a:lstStyle/>
                    <a:p>
                      <a:pPr marL="0" indent="0" algn="ctr">
                        <a:buFont typeface="+mj-lt"/>
                        <a:buNone/>
                      </a:pPr>
                      <a:r>
                        <a:rPr lang="en-US" dirty="0"/>
                        <a:t>2)</a:t>
                      </a:r>
                    </a:p>
                  </a:txBody>
                  <a:tcPr/>
                </a:tc>
                <a:tc>
                  <a:txBody>
                    <a:bodyPr/>
                    <a:lstStyle/>
                    <a:p>
                      <a:r>
                        <a:rPr lang="en-US" b="1" dirty="0"/>
                        <a:t>4WD Car Setup</a:t>
                      </a:r>
                    </a:p>
                  </a:txBody>
                  <a:tcPr/>
                </a:tc>
                <a:tc>
                  <a:txBody>
                    <a:bodyPr/>
                    <a:lstStyle/>
                    <a:p>
                      <a:pPr algn="ctr"/>
                      <a:r>
                        <a:rPr lang="en-US" dirty="0"/>
                        <a:t>1</a:t>
                      </a:r>
                    </a:p>
                  </a:txBody>
                  <a:tcPr/>
                </a:tc>
                <a:tc>
                  <a:txBody>
                    <a:bodyPr/>
                    <a:lstStyle/>
                    <a:p>
                      <a:pPr algn="ctr"/>
                      <a:r>
                        <a:rPr lang="en-US" b="1" i="1" dirty="0">
                          <a:effectLst/>
                        </a:rPr>
                        <a:t>600</a:t>
                      </a:r>
                    </a:p>
                  </a:txBody>
                  <a:tcPr/>
                </a:tc>
                <a:extLst>
                  <a:ext uri="{0D108BD9-81ED-4DB2-BD59-A6C34878D82A}">
                    <a16:rowId xmlns:a16="http://schemas.microsoft.com/office/drawing/2014/main" val="3371951173"/>
                  </a:ext>
                </a:extLst>
              </a:tr>
              <a:tr h="288434">
                <a:tc>
                  <a:txBody>
                    <a:bodyPr/>
                    <a:lstStyle/>
                    <a:p>
                      <a:pPr marL="0" indent="0" algn="ctr">
                        <a:buFont typeface="+mj-lt"/>
                        <a:buNone/>
                      </a:pPr>
                      <a:r>
                        <a:rPr lang="en-US" dirty="0"/>
                        <a:t>3)</a:t>
                      </a:r>
                    </a:p>
                  </a:txBody>
                  <a:tcPr/>
                </a:tc>
                <a:tc>
                  <a:txBody>
                    <a:bodyPr/>
                    <a:lstStyle/>
                    <a:p>
                      <a:r>
                        <a:rPr lang="en-US" b="1" dirty="0"/>
                        <a:t>Arduino Uno</a:t>
                      </a:r>
                    </a:p>
                  </a:txBody>
                  <a:tcPr/>
                </a:tc>
                <a:tc>
                  <a:txBody>
                    <a:bodyPr/>
                    <a:lstStyle/>
                    <a:p>
                      <a:pPr algn="ctr"/>
                      <a:r>
                        <a:rPr lang="en-US" dirty="0"/>
                        <a:t>1</a:t>
                      </a:r>
                    </a:p>
                  </a:txBody>
                  <a:tcPr/>
                </a:tc>
                <a:tc>
                  <a:txBody>
                    <a:bodyPr/>
                    <a:lstStyle/>
                    <a:p>
                      <a:pPr algn="ctr"/>
                      <a:r>
                        <a:rPr lang="en-US" b="1" i="1" dirty="0">
                          <a:effectLst/>
                        </a:rPr>
                        <a:t>350</a:t>
                      </a:r>
                    </a:p>
                  </a:txBody>
                  <a:tcPr/>
                </a:tc>
                <a:extLst>
                  <a:ext uri="{0D108BD9-81ED-4DB2-BD59-A6C34878D82A}">
                    <a16:rowId xmlns:a16="http://schemas.microsoft.com/office/drawing/2014/main" val="2765200958"/>
                  </a:ext>
                </a:extLst>
              </a:tr>
              <a:tr h="380526">
                <a:tc>
                  <a:txBody>
                    <a:bodyPr/>
                    <a:lstStyle/>
                    <a:p>
                      <a:pPr marL="0" indent="0" algn="ctr">
                        <a:buFont typeface="+mj-lt"/>
                        <a:buNone/>
                      </a:pPr>
                      <a:r>
                        <a:rPr lang="en-US" dirty="0"/>
                        <a:t>4)</a:t>
                      </a:r>
                    </a:p>
                  </a:txBody>
                  <a:tcPr/>
                </a:tc>
                <a:tc>
                  <a:txBody>
                    <a:bodyPr/>
                    <a:lstStyle/>
                    <a:p>
                      <a:r>
                        <a:rPr lang="en-US" b="1" dirty="0"/>
                        <a:t>GPS Module ( NEO-6M)</a:t>
                      </a:r>
                    </a:p>
                  </a:txBody>
                  <a:tcPr/>
                </a:tc>
                <a:tc>
                  <a:txBody>
                    <a:bodyPr/>
                    <a:lstStyle/>
                    <a:p>
                      <a:pPr algn="ctr"/>
                      <a:r>
                        <a:rPr lang="en-US" dirty="0"/>
                        <a:t>1</a:t>
                      </a:r>
                    </a:p>
                  </a:txBody>
                  <a:tcPr/>
                </a:tc>
                <a:tc>
                  <a:txBody>
                    <a:bodyPr/>
                    <a:lstStyle/>
                    <a:p>
                      <a:pPr algn="ctr"/>
                      <a:r>
                        <a:rPr lang="en-US" b="1" i="1" dirty="0">
                          <a:effectLst/>
                        </a:rPr>
                        <a:t>400</a:t>
                      </a:r>
                    </a:p>
                  </a:txBody>
                  <a:tcPr/>
                </a:tc>
                <a:extLst>
                  <a:ext uri="{0D108BD9-81ED-4DB2-BD59-A6C34878D82A}">
                    <a16:rowId xmlns:a16="http://schemas.microsoft.com/office/drawing/2014/main" val="121986548"/>
                  </a:ext>
                </a:extLst>
              </a:tr>
              <a:tr h="340346">
                <a:tc>
                  <a:txBody>
                    <a:bodyPr/>
                    <a:lstStyle/>
                    <a:p>
                      <a:pPr marL="0" indent="0" algn="ctr">
                        <a:buFont typeface="+mj-lt"/>
                        <a:buNone/>
                      </a:pPr>
                      <a:r>
                        <a:rPr lang="en-US" dirty="0"/>
                        <a:t>5)</a:t>
                      </a:r>
                    </a:p>
                  </a:txBody>
                  <a:tcPr/>
                </a:tc>
                <a:tc>
                  <a:txBody>
                    <a:bodyPr/>
                    <a:lstStyle/>
                    <a:p>
                      <a:r>
                        <a:rPr lang="en-US" b="1" dirty="0"/>
                        <a:t>16x2 I2C LCD Display</a:t>
                      </a:r>
                    </a:p>
                  </a:txBody>
                  <a:tcPr/>
                </a:tc>
                <a:tc>
                  <a:txBody>
                    <a:bodyPr/>
                    <a:lstStyle/>
                    <a:p>
                      <a:pPr algn="ctr"/>
                      <a:r>
                        <a:rPr lang="en-US" dirty="0"/>
                        <a:t>1</a:t>
                      </a:r>
                    </a:p>
                  </a:txBody>
                  <a:tcPr/>
                </a:tc>
                <a:tc>
                  <a:txBody>
                    <a:bodyPr/>
                    <a:lstStyle/>
                    <a:p>
                      <a:pPr algn="ctr"/>
                      <a:r>
                        <a:rPr lang="en-US" b="1" i="1" dirty="0">
                          <a:effectLst/>
                        </a:rPr>
                        <a:t>300</a:t>
                      </a:r>
                    </a:p>
                  </a:txBody>
                  <a:tcPr/>
                </a:tc>
                <a:extLst>
                  <a:ext uri="{0D108BD9-81ED-4DB2-BD59-A6C34878D82A}">
                    <a16:rowId xmlns:a16="http://schemas.microsoft.com/office/drawing/2014/main" val="4193527200"/>
                  </a:ext>
                </a:extLst>
              </a:tr>
              <a:tr h="288434">
                <a:tc>
                  <a:txBody>
                    <a:bodyPr/>
                    <a:lstStyle/>
                    <a:p>
                      <a:pPr marL="0" indent="0" algn="ctr">
                        <a:buFont typeface="+mj-lt"/>
                        <a:buNone/>
                      </a:pPr>
                      <a:r>
                        <a:rPr lang="en-US" dirty="0"/>
                        <a:t>6)</a:t>
                      </a:r>
                    </a:p>
                  </a:txBody>
                  <a:tcPr/>
                </a:tc>
                <a:tc>
                  <a:txBody>
                    <a:bodyPr/>
                    <a:lstStyle/>
                    <a:p>
                      <a:r>
                        <a:rPr lang="en-US" b="1" dirty="0"/>
                        <a:t>L298N Motor Drive</a:t>
                      </a:r>
                    </a:p>
                  </a:txBody>
                  <a:tcPr/>
                </a:tc>
                <a:tc>
                  <a:txBody>
                    <a:bodyPr/>
                    <a:lstStyle/>
                    <a:p>
                      <a:pPr algn="ctr"/>
                      <a:r>
                        <a:rPr lang="en-US" dirty="0"/>
                        <a:t>1</a:t>
                      </a:r>
                    </a:p>
                  </a:txBody>
                  <a:tcPr/>
                </a:tc>
                <a:tc>
                  <a:txBody>
                    <a:bodyPr/>
                    <a:lstStyle/>
                    <a:p>
                      <a:pPr algn="ctr"/>
                      <a:r>
                        <a:rPr lang="en-US" b="1" i="1" dirty="0">
                          <a:effectLst/>
                        </a:rPr>
                        <a:t>250</a:t>
                      </a:r>
                    </a:p>
                  </a:txBody>
                  <a:tcPr/>
                </a:tc>
                <a:extLst>
                  <a:ext uri="{0D108BD9-81ED-4DB2-BD59-A6C34878D82A}">
                    <a16:rowId xmlns:a16="http://schemas.microsoft.com/office/drawing/2014/main" val="3701176944"/>
                  </a:ext>
                </a:extLst>
              </a:tr>
              <a:tr h="488119">
                <a:tc>
                  <a:txBody>
                    <a:bodyPr/>
                    <a:lstStyle/>
                    <a:p>
                      <a:pPr marL="0" indent="0" algn="ctr">
                        <a:buFont typeface="+mj-lt"/>
                        <a:buNone/>
                      </a:pPr>
                      <a:r>
                        <a:rPr lang="en-US" dirty="0"/>
                        <a:t>7)</a:t>
                      </a:r>
                    </a:p>
                  </a:txBody>
                  <a:tcPr/>
                </a:tc>
                <a:tc>
                  <a:txBody>
                    <a:bodyPr/>
                    <a:lstStyle/>
                    <a:p>
                      <a:r>
                        <a:rPr lang="en-US" b="1" dirty="0"/>
                        <a:t>ADXL335 Accelerometer</a:t>
                      </a:r>
                    </a:p>
                  </a:txBody>
                  <a:tcPr/>
                </a:tc>
                <a:tc>
                  <a:txBody>
                    <a:bodyPr/>
                    <a:lstStyle/>
                    <a:p>
                      <a:pPr algn="ctr"/>
                      <a:r>
                        <a:rPr lang="en-US" dirty="0"/>
                        <a:t>1</a:t>
                      </a:r>
                    </a:p>
                  </a:txBody>
                  <a:tcPr/>
                </a:tc>
                <a:tc>
                  <a:txBody>
                    <a:bodyPr/>
                    <a:lstStyle/>
                    <a:p>
                      <a:pPr algn="ctr"/>
                      <a:r>
                        <a:rPr lang="en-US" b="1" i="1" dirty="0">
                          <a:effectLst/>
                        </a:rPr>
                        <a:t>250</a:t>
                      </a:r>
                    </a:p>
                  </a:txBody>
                  <a:tcPr/>
                </a:tc>
                <a:extLst>
                  <a:ext uri="{0D108BD9-81ED-4DB2-BD59-A6C34878D82A}">
                    <a16:rowId xmlns:a16="http://schemas.microsoft.com/office/drawing/2014/main" val="2675432039"/>
                  </a:ext>
                </a:extLst>
              </a:tr>
              <a:tr h="488119">
                <a:tc>
                  <a:txBody>
                    <a:bodyPr/>
                    <a:lstStyle/>
                    <a:p>
                      <a:pPr marL="0" indent="0" algn="ctr">
                        <a:buFont typeface="+mj-lt"/>
                        <a:buNone/>
                      </a:pPr>
                      <a:r>
                        <a:rPr lang="en-US" dirty="0"/>
                        <a:t>8)</a:t>
                      </a:r>
                    </a:p>
                  </a:txBody>
                  <a:tcPr/>
                </a:tc>
                <a:tc>
                  <a:txBody>
                    <a:bodyPr/>
                    <a:lstStyle/>
                    <a:p>
                      <a:r>
                        <a:rPr lang="en-US" b="1" dirty="0"/>
                        <a:t>External 5V/2A Power Supply</a:t>
                      </a:r>
                    </a:p>
                  </a:txBody>
                  <a:tcPr/>
                </a:tc>
                <a:tc>
                  <a:txBody>
                    <a:bodyPr/>
                    <a:lstStyle/>
                    <a:p>
                      <a:pPr algn="ctr"/>
                      <a:r>
                        <a:rPr lang="en-US" dirty="0"/>
                        <a:t>3</a:t>
                      </a:r>
                    </a:p>
                  </a:txBody>
                  <a:tcPr/>
                </a:tc>
                <a:tc>
                  <a:txBody>
                    <a:bodyPr/>
                    <a:lstStyle/>
                    <a:p>
                      <a:pPr algn="ctr"/>
                      <a:r>
                        <a:rPr lang="en-US" b="1" i="1" dirty="0">
                          <a:effectLst/>
                        </a:rPr>
                        <a:t>200</a:t>
                      </a:r>
                    </a:p>
                  </a:txBody>
                  <a:tcPr/>
                </a:tc>
                <a:extLst>
                  <a:ext uri="{0D108BD9-81ED-4DB2-BD59-A6C34878D82A}">
                    <a16:rowId xmlns:a16="http://schemas.microsoft.com/office/drawing/2014/main" val="2460021742"/>
                  </a:ext>
                </a:extLst>
              </a:tr>
              <a:tr h="488119">
                <a:tc>
                  <a:txBody>
                    <a:bodyPr/>
                    <a:lstStyle/>
                    <a:p>
                      <a:pPr marL="0" indent="0" algn="ctr">
                        <a:buFont typeface="+mj-lt"/>
                        <a:buNone/>
                      </a:pPr>
                      <a:r>
                        <a:rPr lang="en-US" dirty="0"/>
                        <a:t>9)</a:t>
                      </a:r>
                    </a:p>
                  </a:txBody>
                  <a:tcPr/>
                </a:tc>
                <a:tc>
                  <a:txBody>
                    <a:bodyPr/>
                    <a:lstStyle/>
                    <a:p>
                      <a:r>
                        <a:rPr lang="en-US" b="1" dirty="0"/>
                        <a:t>Jumper Wires (M2M,M2F,F2F)</a:t>
                      </a:r>
                    </a:p>
                  </a:txBody>
                  <a:tcPr/>
                </a:tc>
                <a:tc>
                  <a:txBody>
                    <a:bodyPr/>
                    <a:lstStyle/>
                    <a:p>
                      <a:pPr algn="ctr"/>
                      <a:r>
                        <a:rPr lang="en-US" dirty="0"/>
                        <a:t>2set --each</a:t>
                      </a:r>
                    </a:p>
                  </a:txBody>
                  <a:tcPr/>
                </a:tc>
                <a:tc>
                  <a:txBody>
                    <a:bodyPr/>
                    <a:lstStyle/>
                    <a:p>
                      <a:pPr algn="ctr"/>
                      <a:r>
                        <a:rPr lang="en-US" b="1" i="1" dirty="0">
                          <a:effectLst/>
                        </a:rPr>
                        <a:t>120</a:t>
                      </a:r>
                    </a:p>
                  </a:txBody>
                  <a:tcPr/>
                </a:tc>
                <a:extLst>
                  <a:ext uri="{0D108BD9-81ED-4DB2-BD59-A6C34878D82A}">
                    <a16:rowId xmlns:a16="http://schemas.microsoft.com/office/drawing/2014/main" val="663153579"/>
                  </a:ext>
                </a:extLst>
              </a:tr>
              <a:tr h="456348">
                <a:tc>
                  <a:txBody>
                    <a:bodyPr/>
                    <a:lstStyle/>
                    <a:p>
                      <a:pPr marL="0" indent="0" algn="ctr">
                        <a:buFont typeface="+mj-lt"/>
                        <a:buNone/>
                      </a:pPr>
                      <a:r>
                        <a:rPr lang="en-US" dirty="0"/>
                        <a:t>10)</a:t>
                      </a:r>
                    </a:p>
                  </a:txBody>
                  <a:tcPr/>
                </a:tc>
                <a:tc>
                  <a:txBody>
                    <a:bodyPr/>
                    <a:lstStyle/>
                    <a:p>
                      <a:r>
                        <a:rPr lang="en-US" b="1" dirty="0"/>
                        <a:t>5V Relay Module (1-Channel)</a:t>
                      </a:r>
                    </a:p>
                  </a:txBody>
                  <a:tcPr/>
                </a:tc>
                <a:tc>
                  <a:txBody>
                    <a:bodyPr/>
                    <a:lstStyle/>
                    <a:p>
                      <a:pPr algn="ctr"/>
                      <a:r>
                        <a:rPr lang="en-US" dirty="0"/>
                        <a:t>1</a:t>
                      </a:r>
                    </a:p>
                  </a:txBody>
                  <a:tcPr/>
                </a:tc>
                <a:tc>
                  <a:txBody>
                    <a:bodyPr/>
                    <a:lstStyle/>
                    <a:p>
                      <a:pPr algn="ctr"/>
                      <a:r>
                        <a:rPr lang="en-US" b="1" i="1" dirty="0">
                          <a:effectLst/>
                        </a:rPr>
                        <a:t>100</a:t>
                      </a:r>
                    </a:p>
                  </a:txBody>
                  <a:tcPr/>
                </a:tc>
                <a:extLst>
                  <a:ext uri="{0D108BD9-81ED-4DB2-BD59-A6C34878D82A}">
                    <a16:rowId xmlns:a16="http://schemas.microsoft.com/office/drawing/2014/main" val="2969267974"/>
                  </a:ext>
                </a:extLst>
              </a:tr>
              <a:tr h="288434">
                <a:tc>
                  <a:txBody>
                    <a:bodyPr/>
                    <a:lstStyle/>
                    <a:p>
                      <a:pPr marL="0" indent="0" algn="ctr">
                        <a:buFont typeface="+mj-lt"/>
                        <a:buNone/>
                      </a:pPr>
                      <a:r>
                        <a:rPr lang="en-US" dirty="0"/>
                        <a:t>11)</a:t>
                      </a:r>
                    </a:p>
                  </a:txBody>
                  <a:tcPr/>
                </a:tc>
                <a:tc>
                  <a:txBody>
                    <a:bodyPr/>
                    <a:lstStyle/>
                    <a:p>
                      <a:r>
                        <a:rPr lang="en-US" b="1" dirty="0"/>
                        <a:t>Push Buttons</a:t>
                      </a:r>
                    </a:p>
                  </a:txBody>
                  <a:tcPr/>
                </a:tc>
                <a:tc>
                  <a:txBody>
                    <a:bodyPr/>
                    <a:lstStyle/>
                    <a:p>
                      <a:pPr algn="ctr"/>
                      <a:r>
                        <a:rPr lang="en-US" dirty="0"/>
                        <a:t>5</a:t>
                      </a:r>
                    </a:p>
                  </a:txBody>
                  <a:tcPr/>
                </a:tc>
                <a:tc>
                  <a:txBody>
                    <a:bodyPr/>
                    <a:lstStyle/>
                    <a:p>
                      <a:pPr algn="ctr"/>
                      <a:r>
                        <a:rPr lang="en-US" b="1" i="1" dirty="0">
                          <a:effectLst/>
                        </a:rPr>
                        <a:t>60</a:t>
                      </a:r>
                    </a:p>
                  </a:txBody>
                  <a:tcPr/>
                </a:tc>
                <a:extLst>
                  <a:ext uri="{0D108BD9-81ED-4DB2-BD59-A6C34878D82A}">
                    <a16:rowId xmlns:a16="http://schemas.microsoft.com/office/drawing/2014/main" val="2575033853"/>
                  </a:ext>
                </a:extLst>
              </a:tr>
              <a:tr h="288434">
                <a:tc>
                  <a:txBody>
                    <a:bodyPr/>
                    <a:lstStyle/>
                    <a:p>
                      <a:pPr marL="0" indent="0" algn="ctr">
                        <a:buFont typeface="+mj-lt"/>
                        <a:buNone/>
                      </a:pPr>
                      <a:r>
                        <a:rPr lang="en-US" dirty="0"/>
                        <a:t>12)</a:t>
                      </a:r>
                    </a:p>
                  </a:txBody>
                  <a:tcPr/>
                </a:tc>
                <a:tc>
                  <a:txBody>
                    <a:bodyPr/>
                    <a:lstStyle/>
                    <a:p>
                      <a:pPr>
                        <a:buNone/>
                      </a:pPr>
                      <a:r>
                        <a:rPr lang="en-US" b="1" dirty="0"/>
                        <a:t>Piezo Buzzer</a:t>
                      </a:r>
                    </a:p>
                  </a:txBody>
                  <a:tcPr anchor="ctr"/>
                </a:tc>
                <a:tc>
                  <a:txBody>
                    <a:bodyPr/>
                    <a:lstStyle/>
                    <a:p>
                      <a:pPr algn="ctr">
                        <a:buNone/>
                      </a:pPr>
                      <a:r>
                        <a:rPr lang="en-US" dirty="0"/>
                        <a:t>1</a:t>
                      </a:r>
                    </a:p>
                  </a:txBody>
                  <a:tcPr anchor="ctr"/>
                </a:tc>
                <a:tc>
                  <a:txBody>
                    <a:bodyPr/>
                    <a:lstStyle/>
                    <a:p>
                      <a:pPr algn="ctr"/>
                      <a:r>
                        <a:rPr lang="en-US" b="1" i="1" dirty="0">
                          <a:effectLst/>
                        </a:rPr>
                        <a:t>40</a:t>
                      </a:r>
                    </a:p>
                  </a:txBody>
                  <a:tcPr/>
                </a:tc>
                <a:extLst>
                  <a:ext uri="{0D108BD9-81ED-4DB2-BD59-A6C34878D82A}">
                    <a16:rowId xmlns:a16="http://schemas.microsoft.com/office/drawing/2014/main" val="2544417178"/>
                  </a:ext>
                </a:extLst>
              </a:tr>
              <a:tr h="384578">
                <a:tc>
                  <a:txBody>
                    <a:bodyPr/>
                    <a:lstStyle/>
                    <a:p>
                      <a:pPr algn="ctr"/>
                      <a:endParaRPr lang="en-US" sz="2000" dirty="0"/>
                    </a:p>
                  </a:txBody>
                  <a:tcPr/>
                </a:tc>
                <a:tc>
                  <a:txBody>
                    <a:bodyPr/>
                    <a:lstStyle/>
                    <a:p>
                      <a:r>
                        <a:rPr lang="en-US" sz="2000" b="1" i="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Total</a:t>
                      </a:r>
                    </a:p>
                  </a:txBody>
                  <a:tcPr/>
                </a:tc>
                <a:tc>
                  <a:txBody>
                    <a:bodyPr/>
                    <a:lstStyle/>
                    <a:p>
                      <a:r>
                        <a:rPr lang="en-US" dirty="0"/>
                        <a:t>---------------------------</a:t>
                      </a:r>
                    </a:p>
                  </a:txBody>
                  <a:tcPr/>
                </a:tc>
                <a:tc>
                  <a:txBody>
                    <a:bodyPr/>
                    <a:lstStyle/>
                    <a:p>
                      <a:pPr algn="ctr"/>
                      <a:r>
                        <a:rPr lang="en-US" sz="2000" b="1" i="1" u="none" dirty="0">
                          <a:effectLst>
                            <a:outerShdw blurRad="38100" dist="38100" dir="2700000" algn="tl">
                              <a:srgbClr val="000000">
                                <a:alpha val="43137"/>
                              </a:srgbClr>
                            </a:outerShdw>
                          </a:effectLst>
                        </a:rPr>
                        <a:t>3720</a:t>
                      </a:r>
                    </a:p>
                  </a:txBody>
                  <a:tcPr/>
                </a:tc>
                <a:extLst>
                  <a:ext uri="{0D108BD9-81ED-4DB2-BD59-A6C34878D82A}">
                    <a16:rowId xmlns:a16="http://schemas.microsoft.com/office/drawing/2014/main" val="2177601990"/>
                  </a:ext>
                </a:extLst>
              </a:tr>
            </a:tbl>
          </a:graphicData>
        </a:graphic>
      </p:graphicFrame>
    </p:spTree>
    <p:extLst>
      <p:ext uri="{BB962C8B-B14F-4D97-AF65-F5344CB8AC3E}">
        <p14:creationId xmlns:p14="http://schemas.microsoft.com/office/powerpoint/2010/main" val="31384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B5101-5231-0C09-C029-948D7410D77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5E519E4-9704-E87D-09CC-A185184636D9}"/>
              </a:ext>
            </a:extLst>
          </p:cNvPr>
          <p:cNvSpPr>
            <a:spLocks noGrp="1"/>
          </p:cNvSpPr>
          <p:nvPr>
            <p:ph type="dt" sz="half" idx="10"/>
          </p:nvPr>
        </p:nvSpPr>
        <p:spPr/>
        <p:txBody>
          <a:bodyPr/>
          <a:lstStyle/>
          <a:p>
            <a:fld id="{D26B0C30-6035-4D4C-B956-87E1D61995D0}" type="datetime1">
              <a:rPr lang="en-US" smtClean="0"/>
              <a:pPr/>
              <a:t>11/5/2025</a:t>
            </a:fld>
            <a:endParaRPr lang="en-US"/>
          </a:p>
        </p:txBody>
      </p:sp>
      <p:sp>
        <p:nvSpPr>
          <p:cNvPr id="3" name="Footer Placeholder 2">
            <a:extLst>
              <a:ext uri="{FF2B5EF4-FFF2-40B4-BE49-F238E27FC236}">
                <a16:creationId xmlns:a16="http://schemas.microsoft.com/office/drawing/2014/main" id="{9BE200C1-2CBE-B3CB-A4CD-BB0D134DE167}"/>
              </a:ext>
            </a:extLst>
          </p:cNvPr>
          <p:cNvSpPr>
            <a:spLocks noGrp="1"/>
          </p:cNvSpPr>
          <p:nvPr>
            <p:ph type="ftr" sz="quarter" idx="11"/>
          </p:nvPr>
        </p:nvSpPr>
        <p:spPr/>
        <p:txBody>
          <a:bodyPr/>
          <a:lstStyle/>
          <a:p>
            <a:r>
              <a:rPr lang="en-US"/>
              <a:t>United Institute of Technology</a:t>
            </a:r>
          </a:p>
        </p:txBody>
      </p:sp>
      <p:sp>
        <p:nvSpPr>
          <p:cNvPr id="4" name="Slide Number Placeholder 3">
            <a:extLst>
              <a:ext uri="{FF2B5EF4-FFF2-40B4-BE49-F238E27FC236}">
                <a16:creationId xmlns:a16="http://schemas.microsoft.com/office/drawing/2014/main" id="{70EFACD8-76F1-2EC3-9299-9847BB885135}"/>
              </a:ext>
            </a:extLst>
          </p:cNvPr>
          <p:cNvSpPr>
            <a:spLocks noGrp="1"/>
          </p:cNvSpPr>
          <p:nvPr>
            <p:ph type="sldNum" sz="quarter" idx="12"/>
          </p:nvPr>
        </p:nvSpPr>
        <p:spPr/>
        <p:txBody>
          <a:bodyPr/>
          <a:lstStyle/>
          <a:p>
            <a:fld id="{B6F15528-21DE-4FAA-801E-634DDDAF4B2B}" type="slidenum">
              <a:rPr lang="en-US" smtClean="0"/>
              <a:pPr/>
              <a:t>24</a:t>
            </a:fld>
            <a:endParaRPr lang="en-US"/>
          </a:p>
        </p:txBody>
      </p:sp>
      <p:pic>
        <p:nvPicPr>
          <p:cNvPr id="5" name="Picture 4" descr="aktu logo.jpg">
            <a:extLst>
              <a:ext uri="{FF2B5EF4-FFF2-40B4-BE49-F238E27FC236}">
                <a16:creationId xmlns:a16="http://schemas.microsoft.com/office/drawing/2014/main" id="{428809F3-B36E-7C30-869B-8F44D611B2E2}"/>
              </a:ext>
            </a:extLst>
          </p:cNvPr>
          <p:cNvPicPr>
            <a:picLocks noChangeAspect="1"/>
          </p:cNvPicPr>
          <p:nvPr/>
        </p:nvPicPr>
        <p:blipFill>
          <a:blip r:embed="rId2"/>
          <a:stretch>
            <a:fillRect/>
          </a:stretch>
        </p:blipFill>
        <p:spPr>
          <a:xfrm>
            <a:off x="266700" y="112068"/>
            <a:ext cx="1024768" cy="811032"/>
          </a:xfrm>
          <a:prstGeom prst="rect">
            <a:avLst/>
          </a:prstGeom>
        </p:spPr>
      </p:pic>
      <p:pic>
        <p:nvPicPr>
          <p:cNvPr id="6" name="Picture 5" descr="united logo.jpg">
            <a:extLst>
              <a:ext uri="{FF2B5EF4-FFF2-40B4-BE49-F238E27FC236}">
                <a16:creationId xmlns:a16="http://schemas.microsoft.com/office/drawing/2014/main" id="{0F4FF5CA-7D59-C576-FC7B-1E9D20B25573}"/>
              </a:ext>
            </a:extLst>
          </p:cNvPr>
          <p:cNvPicPr>
            <a:picLocks noChangeAspect="1"/>
          </p:cNvPicPr>
          <p:nvPr/>
        </p:nvPicPr>
        <p:blipFill>
          <a:blip r:embed="rId3"/>
          <a:stretch>
            <a:fillRect/>
          </a:stretch>
        </p:blipFill>
        <p:spPr>
          <a:xfrm>
            <a:off x="7710760" y="0"/>
            <a:ext cx="1233163" cy="923099"/>
          </a:xfrm>
          <a:prstGeom prst="rect">
            <a:avLst/>
          </a:prstGeom>
        </p:spPr>
      </p:pic>
      <p:sp>
        <p:nvSpPr>
          <p:cNvPr id="7" name="TextBox 6">
            <a:extLst>
              <a:ext uri="{FF2B5EF4-FFF2-40B4-BE49-F238E27FC236}">
                <a16:creationId xmlns:a16="http://schemas.microsoft.com/office/drawing/2014/main" id="{541DAE88-D039-9D92-3DFB-C084F8523C32}"/>
              </a:ext>
            </a:extLst>
          </p:cNvPr>
          <p:cNvSpPr txBox="1"/>
          <p:nvPr/>
        </p:nvSpPr>
        <p:spPr>
          <a:xfrm>
            <a:off x="3323378" y="548428"/>
            <a:ext cx="2300053" cy="461665"/>
          </a:xfrm>
          <a:prstGeom prst="rect">
            <a:avLst/>
          </a:prstGeom>
          <a:noFill/>
        </p:spPr>
        <p:txBody>
          <a:bodyPr wrap="none" rtlCol="0">
            <a:spAutoFit/>
          </a:bodyPr>
          <a:lstStyle/>
          <a:p>
            <a:r>
              <a:rPr lang="en-US" sz="2400" b="1" i="1" u="sng" dirty="0">
                <a:latin typeface="Arial Black" pitchFamily="34" charset="0"/>
              </a:rPr>
              <a:t>Bibliography</a:t>
            </a:r>
          </a:p>
        </p:txBody>
      </p:sp>
      <p:sp>
        <p:nvSpPr>
          <p:cNvPr id="9" name="Rectangle 1">
            <a:extLst>
              <a:ext uri="{FF2B5EF4-FFF2-40B4-BE49-F238E27FC236}">
                <a16:creationId xmlns:a16="http://schemas.microsoft.com/office/drawing/2014/main" id="{883ED48E-FACC-30FE-8EAA-67983F6E0FEB}"/>
              </a:ext>
            </a:extLst>
          </p:cNvPr>
          <p:cNvSpPr>
            <a:spLocks noGrp="1" noChangeArrowheads="1"/>
          </p:cNvSpPr>
          <p:nvPr>
            <p:ph type="title"/>
          </p:nvPr>
        </p:nvSpPr>
        <p:spPr bwMode="auto">
          <a:xfrm>
            <a:off x="628650" y="1705724"/>
            <a:ext cx="800354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00000"/>
              </a:lnSpc>
              <a:spcAft>
                <a:spcPct val="0"/>
              </a:spcAft>
            </a:pPr>
            <a:r>
              <a:rPr lang="en-US" sz="1800" b="1" dirty="0"/>
              <a:t>[1] S. S. Al-Majeed, </a:t>
            </a:r>
            <a:r>
              <a:rPr lang="en-US" sz="1800" dirty="0"/>
              <a:t>"An IoT-based hardware module for automatic vehicle accident detection and emergency alerting," </a:t>
            </a:r>
            <a:r>
              <a:rPr lang="en-US" sz="1800" i="1" dirty="0"/>
              <a:t>International Journal of IoT and Sensor Networks</a:t>
            </a:r>
            <a:r>
              <a:rPr lang="en-US" sz="1800" dirty="0"/>
              <a:t>, vol. 11, no. 4, pp. 88–99, 2021.</a:t>
            </a:r>
            <a:br>
              <a:rPr lang="en-US" sz="1800" dirty="0"/>
            </a:br>
            <a:br>
              <a:rPr lang="en-US" sz="1800" dirty="0"/>
            </a:br>
            <a:r>
              <a:rPr lang="en-US" sz="1800" b="1" dirty="0"/>
              <a:t>[2] L. Chen, H. Wang, and Y. Zhang, </a:t>
            </a:r>
            <a:r>
              <a:rPr lang="en-US" sz="1800" dirty="0"/>
              <a:t>"Real-time vehicle crash detection with deep learning on dashcam video," in </a:t>
            </a:r>
            <a:r>
              <a:rPr lang="en-US" sz="1800" i="1" dirty="0"/>
              <a:t>Proc. 2022 IEEE International Conference on Computer Vision (ICCV)</a:t>
            </a:r>
            <a:r>
              <a:rPr lang="en-US" sz="1800" dirty="0"/>
              <a:t>, 2022, pp. 1120–1129.</a:t>
            </a:r>
            <a:br>
              <a:rPr lang="en-US" sz="1800" dirty="0"/>
            </a:br>
            <a:br>
              <a:rPr lang="en-US" sz="1800" dirty="0"/>
            </a:br>
            <a:r>
              <a:rPr lang="en-US" sz="1800" b="1" dirty="0"/>
              <a:t>[3] A. Patel and S. Kumar</a:t>
            </a:r>
            <a:r>
              <a:rPr lang="en-US" sz="1800" dirty="0"/>
              <a:t>, "A low-cost vehicle accident detection system using smartphone inertial sensors," </a:t>
            </a:r>
            <a:r>
              <a:rPr lang="en-US" sz="1800" i="1" dirty="0"/>
              <a:t>IEEE Transactions on Intelligent Transportation Systems</a:t>
            </a:r>
            <a:r>
              <a:rPr lang="en-US" sz="1800" dirty="0"/>
              <a:t>, vol. 34, no. 2, pp. 456–467, Feb. 2023.</a:t>
            </a:r>
            <a:br>
              <a:rPr lang="en-US" sz="1800" dirty="0"/>
            </a:br>
            <a:br>
              <a:rPr lang="en-US" sz="1800" dirty="0"/>
            </a:b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902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529D37-694C-D638-0735-3CD5456D8BC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Freeform: Shape 2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843A01F3-1607-7E26-F786-F8C69830A1B5}"/>
              </a:ext>
            </a:extLst>
          </p:cNvPr>
          <p:cNvSpPr>
            <a:spLocks noGrp="1"/>
          </p:cNvSpPr>
          <p:nvPr>
            <p:ph type="title"/>
          </p:nvPr>
        </p:nvSpPr>
        <p:spPr>
          <a:xfrm>
            <a:off x="1143002" y="1999615"/>
            <a:ext cx="6858000" cy="2764028"/>
          </a:xfrm>
        </p:spPr>
        <p:txBody>
          <a:bodyPr vert="horz" lIns="91440" tIns="45720" rIns="91440" bIns="45720" rtlCol="0" anchor="ctr">
            <a:normAutofit/>
          </a:bodyPr>
          <a:lstStyle/>
          <a:p>
            <a:pPr algn="ctr" defTabSz="914400"/>
            <a:r>
              <a:rPr lang="en-US" sz="6300" b="1" i="1" u="sng" kern="1200" dirty="0">
                <a:solidFill>
                  <a:schemeClr val="accent2"/>
                </a:solidFill>
                <a:latin typeface="+mj-lt"/>
                <a:ea typeface="+mj-ea"/>
                <a:cs typeface="+mj-cs"/>
              </a:rPr>
              <a:t>THANK YOU</a:t>
            </a:r>
          </a:p>
        </p:txBody>
      </p:sp>
      <p:sp>
        <p:nvSpPr>
          <p:cNvPr id="26" name="Rectangle 2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5524786"/>
            <a:ext cx="356616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Date Placeholder 1">
            <a:extLst>
              <a:ext uri="{FF2B5EF4-FFF2-40B4-BE49-F238E27FC236}">
                <a16:creationId xmlns:a16="http://schemas.microsoft.com/office/drawing/2014/main" id="{5A5701B9-A340-9D7A-D8F8-E9A2D54D8D28}"/>
              </a:ext>
            </a:extLst>
          </p:cNvPr>
          <p:cNvSpPr>
            <a:spLocks noGrp="1"/>
          </p:cNvSpPr>
          <p:nvPr>
            <p:ph type="dt" sz="half" idx="10"/>
          </p:nvPr>
        </p:nvSpPr>
        <p:spPr>
          <a:xfrm>
            <a:off x="325622" y="6356350"/>
            <a:ext cx="874528" cy="365125"/>
          </a:xfrm>
        </p:spPr>
        <p:txBody>
          <a:bodyPr vert="horz" lIns="91440" tIns="45720" rIns="91440" bIns="45720" rtlCol="0" anchor="ctr">
            <a:normAutofit/>
          </a:bodyPr>
          <a:lstStyle/>
          <a:p>
            <a:pPr>
              <a:spcAft>
                <a:spcPts val="600"/>
              </a:spcAft>
            </a:pPr>
            <a:fld id="{D26B0C30-6035-4D4C-B956-87E1D61995D0}" type="datetime1">
              <a:rPr lang="en-US" sz="1200">
                <a:solidFill>
                  <a:schemeClr val="tx1">
                    <a:lumMod val="50000"/>
                    <a:lumOff val="50000"/>
                  </a:schemeClr>
                </a:solidFill>
              </a:rPr>
              <a:pPr>
                <a:spcAft>
                  <a:spcPts val="600"/>
                </a:spcAft>
              </a:pPr>
              <a:t>11/5/2025</a:t>
            </a:fld>
            <a:endParaRPr lang="en-US" sz="120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7E41373D-58B6-B53C-17F6-FF5389C0DCBB}"/>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a:spcAft>
                <a:spcPts val="600"/>
              </a:spcAft>
            </a:pPr>
            <a:r>
              <a:rPr lang="en-US" sz="1200" kern="1200">
                <a:solidFill>
                  <a:schemeClr val="tx1">
                    <a:lumMod val="50000"/>
                    <a:lumOff val="50000"/>
                  </a:schemeClr>
                </a:solidFill>
                <a:latin typeface="+mn-lt"/>
                <a:ea typeface="+mn-ea"/>
                <a:cs typeface="+mn-cs"/>
              </a:rPr>
              <a:t>United Institute of Technology</a:t>
            </a:r>
          </a:p>
        </p:txBody>
      </p:sp>
      <p:sp>
        <p:nvSpPr>
          <p:cNvPr id="4" name="Slide Number Placeholder 3">
            <a:extLst>
              <a:ext uri="{FF2B5EF4-FFF2-40B4-BE49-F238E27FC236}">
                <a16:creationId xmlns:a16="http://schemas.microsoft.com/office/drawing/2014/main" id="{F0621990-D1FB-5151-4522-E8157EA677ED}"/>
              </a:ext>
            </a:extLst>
          </p:cNvPr>
          <p:cNvSpPr>
            <a:spLocks noGrp="1"/>
          </p:cNvSpPr>
          <p:nvPr>
            <p:ph type="sldNum" sz="quarter" idx="12"/>
          </p:nvPr>
        </p:nvSpPr>
        <p:spPr>
          <a:xfrm>
            <a:off x="7866764" y="6356350"/>
            <a:ext cx="951613" cy="365125"/>
          </a:xfrm>
        </p:spPr>
        <p:txBody>
          <a:bodyPr vert="horz" lIns="91440" tIns="45720" rIns="91440" bIns="45720" rtlCol="0" anchor="ctr">
            <a:normAutofit/>
          </a:bodyPr>
          <a:lstStyle/>
          <a:p>
            <a:pPr>
              <a:spcAft>
                <a:spcPts val="600"/>
              </a:spcAft>
            </a:pPr>
            <a:fld id="{B6F15528-21DE-4FAA-801E-634DDDAF4B2B}" type="slidenum">
              <a:rPr lang="en-US" sz="1200">
                <a:solidFill>
                  <a:schemeClr val="tx1">
                    <a:lumMod val="50000"/>
                    <a:lumOff val="50000"/>
                  </a:schemeClr>
                </a:solidFill>
              </a:rPr>
              <a:pPr>
                <a:spcAft>
                  <a:spcPts val="600"/>
                </a:spcAft>
              </a:pPr>
              <a:t>25</a:t>
            </a:fld>
            <a:endParaRPr lang="en-US" sz="1200">
              <a:solidFill>
                <a:schemeClr val="tx1">
                  <a:lumMod val="50000"/>
                  <a:lumOff val="50000"/>
                </a:schemeClr>
              </a:solidFill>
            </a:endParaRPr>
          </a:p>
        </p:txBody>
      </p:sp>
      <p:pic>
        <p:nvPicPr>
          <p:cNvPr id="5" name="Picture 4" descr="aktu logo.jpg">
            <a:extLst>
              <a:ext uri="{FF2B5EF4-FFF2-40B4-BE49-F238E27FC236}">
                <a16:creationId xmlns:a16="http://schemas.microsoft.com/office/drawing/2014/main" id="{C7B10129-3185-4364-0F2C-874826718D96}"/>
              </a:ext>
            </a:extLst>
          </p:cNvPr>
          <p:cNvPicPr>
            <a:picLocks noChangeAspect="1"/>
          </p:cNvPicPr>
          <p:nvPr/>
        </p:nvPicPr>
        <p:blipFill>
          <a:blip r:embed="rId2"/>
          <a:stretch>
            <a:fillRect/>
          </a:stretch>
        </p:blipFill>
        <p:spPr>
          <a:xfrm>
            <a:off x="266700" y="112068"/>
            <a:ext cx="1024768" cy="811032"/>
          </a:xfrm>
          <a:prstGeom prst="rect">
            <a:avLst/>
          </a:prstGeom>
        </p:spPr>
      </p:pic>
      <p:pic>
        <p:nvPicPr>
          <p:cNvPr id="6" name="Picture 5" descr="united logo.jpg">
            <a:extLst>
              <a:ext uri="{FF2B5EF4-FFF2-40B4-BE49-F238E27FC236}">
                <a16:creationId xmlns:a16="http://schemas.microsoft.com/office/drawing/2014/main" id="{E40A1C72-36AF-3373-9B68-2B0209906761}"/>
              </a:ext>
            </a:extLst>
          </p:cNvPr>
          <p:cNvPicPr>
            <a:picLocks noChangeAspect="1"/>
          </p:cNvPicPr>
          <p:nvPr/>
        </p:nvPicPr>
        <p:blipFill>
          <a:blip r:embed="rId3"/>
          <a:stretch>
            <a:fillRect/>
          </a:stretch>
        </p:blipFill>
        <p:spPr>
          <a:xfrm>
            <a:off x="7710760" y="0"/>
            <a:ext cx="1233163" cy="923099"/>
          </a:xfrm>
          <a:prstGeom prst="rect">
            <a:avLst/>
          </a:prstGeom>
        </p:spPr>
      </p:pic>
    </p:spTree>
    <p:extLst>
      <p:ext uri="{BB962C8B-B14F-4D97-AF65-F5344CB8AC3E}">
        <p14:creationId xmlns:p14="http://schemas.microsoft.com/office/powerpoint/2010/main" val="1155058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1407</TotalTime>
  <Words>2085</Words>
  <Application>Microsoft Office PowerPoint</Application>
  <PresentationFormat>On-screen Show (4:3)</PresentationFormat>
  <Paragraphs>311</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Aptos Display</vt:lpstr>
      <vt:lpstr>Arial</vt:lpstr>
      <vt:lpstr>Arial Black</vt:lpstr>
      <vt:lpstr>Calibri</vt:lpstr>
      <vt:lpstr>Times New Roman</vt:lpstr>
      <vt:lpstr>Wingdings</vt:lpstr>
      <vt:lpstr>Office Theme</vt:lpstr>
      <vt:lpstr>PowerPoint Presentation</vt:lpstr>
      <vt:lpstr>                                          The Plan                                                                    The Analysis                                                    Objective                                                                                  Advantages                                             Methodology                                                                           Result Analysis                                              Block Diagram                                                                       Conclusion           The Problem                                              The Execution                                                           The Follow Up   Introduction                                                              components used                                                                      Future Scope   Literature Review                                                     Working                                                                                         Applications Problem Formulation                                            Result Analysis                                                                           References</vt:lpstr>
      <vt:lpstr> Focus: Developing an automated system for real-time accident detection and emergency notification.  Goal: To minimize the critical time gap between accident occurrence and professional help arriving.  Key Technologies: Integration of embedded systems, GPS for location, and GSM for communication.  Impact: Aims to enhance road safety and potentially save lives by enabling quicker medical intervention.</vt:lpstr>
      <vt:lpstr>PowerPoint Presentation</vt:lpstr>
      <vt:lpstr>Specific Challenges Addressed   Reliability of Detection: How to differentiate between a bump/pothole and a genuine accident (solved by tilt threshold).   Power Dependency: GSM modules are power-hungry (addressed by dedicated power supply).  Location Accuracy: Ensuring precise GPS coordinates, even in adverse conditions.   User Interaction: Providing both automatic and manual alert triggers. </vt:lpstr>
      <vt:lpstr>Specific Objectives - I (Detection &amp; Safety)  1. Tilt/Impact Detection:  Integrate ADXL335 to monitor vehicle orientation and detect unusual tilt exceeding a calibrated threshold.  2. Manual Alert Trigger:  Incorporate a physical button for the user to manually initiate an accident alert.  3. Local Audio Warning:  Activate a buzzer upon accident detection to alert nearby individuals. </vt:lpstr>
      <vt:lpstr>System Design Overview  Microcontroller-Centric: Arduino acts as the central processing unit, coordinating all operations.  Sensor Integration: Interfacing ADXL335 and GPS modules for data acquisition.  Communication Layer: GSM module for wireless long-range emergency communication.  Actuation Layer: Motor driver, relay, and buzzer for physical responses.  User Feedback: LCD and buttons for interaction and status display. </vt:lpstr>
      <vt:lpstr>Actuator Control  L298N Motor Driver (ENA, IN1, IN2, ENB, IN3, IN4):  Controls direction and speed of two DC motors. analogWrite(ENA, speed); sets motor speed during normal operation.  5V Relay Module (relayPin = 4):  digitalWrite(relayPin, HIGH); in handleAccident() to activate. Can cut power to ignition, fuel pump, or other safety mechanisms.  Buzzer (buzzerPin = 2):  digitalWrite(buzzerPin, HIGH); in handleAccident() for immediate audible alarm. digitalWrite(buzzerPin, LOW); for normal operation. </vt:lpstr>
      <vt:lpstr>PowerPoint Presentation</vt:lpstr>
      <vt:lpstr>  ADXL335 Accelerometer:  Type: Analog 3-axis accelerometer.  Function: Detects static acceleration (gravity for tilt) and dynamic acceleration (impact).  Wiring: X, Y, Z outputs to Arduino A0, A1, A2.  TinyGPS Module:  Type: GPS(Global Positioning System) receiver module. </vt:lpstr>
      <vt:lpstr>                          (reading inputs, processing them through code, and controlling outputs)   External Power Supply (for GSM):  Requirement: 5V, 2A DC supply for the SIM900A module.  Importance: GSM modules have high current draw during transmission bursts. Arduino's 5V pin cannot provide enough current, leading to resets.  </vt:lpstr>
      <vt:lpstr>  16x2 I2C LCD Display:  Function: Displays system status and messages. </vt:lpstr>
      <vt:lpstr>Actuators &amp; Switches  L298N Motor Driver: Function: Controls direction and speed of two DC motors..  5V Relay Module:  Type: Electromechanical switch. Function: Can control high-power devices Wiring: Control pin to Arduino D4.  Buzzer: </vt:lpstr>
      <vt:lpstr> Step 1: System Initialization &amp; Calibration  Power Up: Arduino boots, LCD displays "Initializing...".  Hardware Setup: All I/O pins, serial ports, and LCD are configured.  ADXL335 Calibration:  Ready State: LCD displays "System Ready". System enters a waiting state.  User Activation: The system waits for the startButtonPin to be pressed (LOW).  System Active: Once pressed, LCD shows "Starting..." then "System Active". </vt:lpstr>
      <vt:lpstr>Step 2: Normal Operation (Motors Running)  Condition: systemReadyToStart is true AND systemStopped is false.  Motor Control:  digitalWrite(IN1, HIGH); digitalWrite(IN2, LOW); (and IN3, IN4) for forward movement. analogWrite(ENA, speed); analogWrite(ENB, speed); sets motor speed (e.g., 60).  Status Display: LCD shows "Motors Running".  Continuous Monitoring: The system continuously reads ADXL335 values and checks the switchPin.</vt:lpstr>
      <vt:lpstr>Step 3: Accident Detection &amp; Alert Trigger  Trigger Conditions (logical OR):  digitalRead(switchPin) == LOW (Manual Alert) OR xDeviation &gt; maxTiltThreshold OR yDeviation &gt; maxTiltThreshold OR zDeviation &gt; maxTiltThreshold (Automatic Tilt/Impact)  Action: If either condition is met, the handleAccident() function is called.  System State Change:  systemStopped = true; -&gt; Prevents motors from restarting and initiates live tracking. </vt:lpstr>
      <vt:lpstr>Step 4: Emergency Response  Local Alarms:  GPS Acquisition:  SMS Alert:  Live Location Tracking: </vt:lpstr>
      <vt:lpstr>Detection &amp; Alert Performance  Accelerometer Response: Detection Time: Near-instantaneous (within 200ms of significant tilt/impact). Sensitivity: Tunable via maxTiltThreshold. Lower value = higher sensitivity.  GPS Fix Time:  Impact on Alert: Initial SMS might be delayed slightly if no valid GPS fix yet, but system attempts repeatedly.  SMS Delivery Time:  Network Latency: Varies by carrier and signal strength, typically 5-15 seconds. Total SMS Time (from trigger): Naturally 15-30 seconds. </vt:lpstr>
      <vt:lpstr> Rapid Response: Significantly reduces emergency response time by automating notification.   Precise Location: Provides exact GPS coordinates, overcoming challenges of vague accident locations.  Autonomous Operation: Functions without human intervention post-accident.  Simple Interface: Easy to understand status via LCD and simple button controls.  Trigger Mechanism: Offers both automatic (sensor-based) and manual (user-initiated) alerts.</vt:lpstr>
      <vt:lpstr>Personal Vehicles: Standard integration into cars, motorcycles, and trucks.   Public Transport: Buses, taxis, auto-rickshaws for enhanced passenger safety.  Remote Area Travel: Particularly valuable where cellular network coverage might be spotted but GPS is available, and manual reporting is difficult.  Elderly Drivers / Vulnerable Road Users: Provides an added layer of safety.   Off-Road Vehicles: All terrain vehicles and utility task vehicles(ATV, UTV, )where accidents are common and help is often far away.</vt:lpstr>
      <vt:lpstr>The developed Vehicle Accident Detection System successfully integrates sensor technology, GPS, and GSM communication to create an effective and automated emergency response solution.  By providing immediate, precise location data and local alarms, the project directly addresses the critical issue of delayed accident assistance.  This system represents a significant step towards enhancing road safety and potentially saving lives by ensuring timely medical intervention.</vt:lpstr>
      <vt:lpstr>  1. Voice Call Integration: Extend GSM functionality to make an automated voice call to emergency numbers in addition to SMS.  2. Multi-Contact Alert: Allow for sending SMS/calls to multiple pre-configured numbers.  3. Real-time Monitoring Web Platform: Develop a web/mobile application for real-time tracking and accident history logging via an IoT cloud platform (e.g., ThingSpeak, Firebase).  4. Advanced Algorithms: Machine learning to differentiate between false alarms (potholes) and actual accidents.</vt:lpstr>
      <vt:lpstr>PowerPoint Presentation</vt:lpstr>
      <vt:lpstr>[1] S. S. Al-Majeed, "An IoT-based hardware module for automatic vehicle accident detection and emergency alerting," International Journal of IoT and Sensor Networks, vol. 11, no. 4, pp. 88–99, 2021.  [2] L. Chen, H. Wang, and Y. Zhang, "Real-time vehicle crash detection with deep learning on dashcam video," in Proc. 2022 IEEE International Conference on Computer Vision (ICCV), 2022, pp. 1120–1129.  [3] A. Patel and S. Kumar, "A low-cost vehicle accident detection system using smartphone inertial sensors," IEEE Transactions on Intelligent Transportation Systems, vol. 34, no. 2, pp. 456–467, Feb. 2023.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anand tripathi</cp:lastModifiedBy>
  <cp:revision>36</cp:revision>
  <dcterms:created xsi:type="dcterms:W3CDTF">2006-08-16T00:00:00Z</dcterms:created>
  <dcterms:modified xsi:type="dcterms:W3CDTF">2025-11-05T08:37:50Z</dcterms:modified>
</cp:coreProperties>
</file>